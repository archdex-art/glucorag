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2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45720"/>
          </a:xfrm>
          <a:prstGeom prst="rect">
            <a:avLst/>
          </a:prstGeom>
          <a:solidFill>
            <a:srgbClr val="00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D1C0"/>
                </a:solidFill>
                <a:latin typeface="Calibri"/>
              </a:rPr>
              <a:t>SOFTWARE REFERENCE ARCHITECTURE  ·  v2.0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GlucoRAG / EPS-TFT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4028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CFE1F6"/>
                </a:solidFill>
                <a:latin typeface="Calibri"/>
              </a:rPr>
              <a:t>Population-specific, multi-horizon blood-glucose forecasting with a</a:t>
            </a:r>
          </a:p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CFE1F6"/>
                </a:solidFill>
                <a:latin typeface="Calibri"/>
              </a:rPr>
              <a:t>Temporal Fusion Transformer — data, model, inference and decision-support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097280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5CBE4"/>
                </a:solidFill>
                <a:latin typeface="Calibri"/>
              </a:rPr>
              <a:t>1  Horizontal end-to-end architecture (training pipeline → inference service → consumers)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5CBE4"/>
                </a:solidFill>
                <a:latin typeface="Calibri"/>
              </a:rPr>
              <a:t>2  Vertical layered architecture (6-layer software stack with interfaces)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5CBE4"/>
                </a:solidFill>
                <a:latin typeface="Calibri"/>
              </a:rPr>
              <a:t>3  TFT model architecture — tensor-level data flow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5CBE4"/>
                </a:solidFill>
                <a:latin typeface="Calibri"/>
              </a:rPr>
              <a:t>4  Software module &amp; component architecture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5CBE4"/>
                </a:solidFill>
                <a:latin typeface="Calibri"/>
              </a:rPr>
              <a:t>5  Runtime sequence (one prediction cycle per CGM sample)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5CBE4"/>
                </a:solidFill>
                <a:latin typeface="Calibri"/>
              </a:rPr>
              <a:t>6  Data &amp; model lifecycle (MLOps) pipeline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B5CBE4"/>
                </a:solidFill>
                <a:latin typeface="Calibri"/>
              </a:rPr>
              <a:t>7  Non-functional requirements &amp; design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430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A7C9"/>
                </a:solidFill>
                <a:latin typeface="Calibri"/>
              </a:rPr>
              <a:t>Scope: software only (hardware / wearable device excluded).   Basis: Zhu et al., IEEE TBioCAS 18(2), 2024 — DOI 10.1109/TBCAS.2023.3348844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"/>
            <a:ext cx="91440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FC7EF"/>
                </a:solidFill>
                <a:latin typeface="Calibri"/>
              </a:rPr>
              <a:t>SYSTEM CONTEXT  ·  LEFT → RIGHT DATA FLOW  ·  SOFTWARE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2608"/>
            <a:ext cx="109728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1 · Horizontal End-to-End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GlucoRAG · EPS-TFT Reference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457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234440"/>
            <a:ext cx="3703320" cy="4800600"/>
          </a:xfrm>
          <a:prstGeom prst="roundRect">
            <a:avLst>
              <a:gd name="adj" fmla="val 2000"/>
            </a:avLst>
          </a:prstGeom>
          <a:noFill/>
          <a:ln w="19050">
            <a:solidFill>
              <a:srgbClr val="1F5F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97280"/>
            <a:ext cx="2148840" cy="274320"/>
          </a:xfrm>
          <a:prstGeom prst="roundRect">
            <a:avLst>
              <a:gd name="adj" fmla="val 3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2148840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OFFLINE TRAINING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234440"/>
            <a:ext cx="4892040" cy="4800600"/>
          </a:xfrm>
          <a:prstGeom prst="roundRect">
            <a:avLst>
              <a:gd name="adj" fmla="val 2000"/>
            </a:avLst>
          </a:prstGeom>
          <a:noFill/>
          <a:ln w="19050">
            <a:solidFill>
              <a:srgbClr val="E0721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097280"/>
            <a:ext cx="3392424" cy="274320"/>
          </a:xfrm>
          <a:prstGeom prst="roundRect">
            <a:avLst>
              <a:gd name="adj" fmla="val 30000"/>
            </a:avLst>
          </a:prstGeom>
          <a:solidFill>
            <a:srgbClr val="E07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097280"/>
            <a:ext cx="3392424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INFERENCE SERVICE (local, offline-capable)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234440"/>
            <a:ext cx="2514600" cy="4800600"/>
          </a:xfrm>
          <a:prstGeom prst="roundRect">
            <a:avLst>
              <a:gd name="adj" fmla="val 2000"/>
            </a:avLst>
          </a:prstGeom>
          <a:noFill/>
          <a:ln w="19050">
            <a:solidFill>
              <a:srgbClr val="2E7D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09760" y="1097280"/>
            <a:ext cx="978407" cy="274320"/>
          </a:xfrm>
          <a:prstGeom prst="roundRect">
            <a:avLst>
              <a:gd name="adj" fmla="val 3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1097280"/>
            <a:ext cx="978407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CONSUMERS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1508760"/>
            <a:ext cx="16002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1545336"/>
            <a:ext cx="64008" cy="8869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1536192"/>
            <a:ext cx="145389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Clinical datasets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1764792"/>
            <a:ext cx="1453896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OhioT1DM · 12 T1D · 5-min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ShanghaiDM · 12 T1D +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100 T2D · 15-min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1508760"/>
            <a:ext cx="16002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0" y="1545336"/>
            <a:ext cx="64008" cy="8869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95728" y="1536192"/>
            <a:ext cx="145389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Preprocessing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1764792"/>
            <a:ext cx="1453896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causal linear imputation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clip 40–400 mg/dL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z-norm · time→[0,1]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743200"/>
            <a:ext cx="16002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2779776"/>
            <a:ext cx="64008" cy="8869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2770632"/>
            <a:ext cx="145389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Windowing &amp; split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2999232"/>
            <a:ext cx="1453896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120-min look-back (24)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60-min horizon (12)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80/20 · last 25% val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2743200"/>
            <a:ext cx="16002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0" y="2779776"/>
            <a:ext cx="64008" cy="8869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95728" y="2770632"/>
            <a:ext cx="145389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TFT training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5728" y="2999232"/>
            <a:ext cx="1453896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PyTorch · Adam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quantile loss (7 q)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HyperBand · ES p=20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977639"/>
            <a:ext cx="16002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4014215"/>
            <a:ext cx="64008" cy="8869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" y="4005072"/>
            <a:ext cx="145389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Feature selection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4233672"/>
            <a:ext cx="1453896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VSN weights → keep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CGM + timestamp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(93.9% importance)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0" y="3977639"/>
            <a:ext cx="16002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0" y="4014215"/>
            <a:ext cx="64008" cy="88696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95728" y="4005072"/>
            <a:ext cx="145389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Model registry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95728" y="4233672"/>
            <a:ext cx="1453896" cy="685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versioned checkpoint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+ norm params μ/σ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+ quantile set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166360"/>
            <a:ext cx="338328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5202936"/>
            <a:ext cx="64008" cy="612648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" y="5193792"/>
            <a:ext cx="323697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Static context precompute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5422392"/>
            <a:ext cx="3236976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covariate encoder run once per patient → context vectors c_s, c_e, c_c, c_h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103120" y="1984248"/>
            <a:ext cx="182880" cy="0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081528" y="2468880"/>
            <a:ext cx="0" cy="137160"/>
          </a:xfrm>
          <a:prstGeom prst="line">
            <a:avLst/>
          </a:prstGeom>
          <a:ln w="19050">
            <a:solidFill>
              <a:srgbClr val="0B22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1298448" y="2606040"/>
            <a:ext cx="1783080" cy="0"/>
          </a:xfrm>
          <a:prstGeom prst="line">
            <a:avLst/>
          </a:prstGeom>
          <a:ln w="19050">
            <a:solidFill>
              <a:srgbClr val="0B22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298448" y="2606040"/>
            <a:ext cx="0" cy="137160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103120" y="3218688"/>
            <a:ext cx="182880" cy="0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081528" y="3703320"/>
            <a:ext cx="0" cy="274319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2194560" y="3429000"/>
            <a:ext cx="91440" cy="0"/>
          </a:xfrm>
          <a:prstGeom prst="line">
            <a:avLst/>
          </a:prstGeom>
          <a:ln w="19050">
            <a:solidFill>
              <a:srgbClr val="555F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194560" y="3429000"/>
            <a:ext cx="0" cy="411480"/>
          </a:xfrm>
          <a:prstGeom prst="line">
            <a:avLst/>
          </a:prstGeom>
          <a:ln w="19050">
            <a:solidFill>
              <a:srgbClr val="555F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1298448" y="3840480"/>
            <a:ext cx="896112" cy="0"/>
          </a:xfrm>
          <a:prstGeom prst="line">
            <a:avLst/>
          </a:prstGeom>
          <a:ln w="19050">
            <a:solidFill>
              <a:srgbClr val="555F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98448" y="3840480"/>
            <a:ext cx="0" cy="137159"/>
          </a:xfrm>
          <a:prstGeom prst="line">
            <a:avLst/>
          </a:prstGeom>
          <a:ln w="19050">
            <a:solidFill>
              <a:srgbClr val="555F6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02920" y="3721608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555F6B"/>
                </a:solidFill>
                <a:latin typeface="Calibri"/>
              </a:rPr>
              <a:t>retrain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34840" y="1508760"/>
            <a:ext cx="146304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96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34840" y="1545336"/>
            <a:ext cx="64008" cy="978407"/>
          </a:xfrm>
          <a:prstGeom prst="rect">
            <a:avLst/>
          </a:prstGeom>
          <a:solidFill>
            <a:srgbClr val="00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44568" y="1536192"/>
            <a:ext cx="131673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CGM data source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44568" y="1764792"/>
            <a:ext cx="1316736" cy="77723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live stream or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replayed dataset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(5 / 15 min)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72200" y="1508760"/>
            <a:ext cx="278892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07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72200" y="1545336"/>
            <a:ext cx="64008" cy="978407"/>
          </a:xfrm>
          <a:prstGeom prst="rect">
            <a:avLst/>
          </a:prstGeom>
          <a:solidFill>
            <a:srgbClr val="E07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81928" y="1536192"/>
            <a:ext cx="2642615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Ingestion adapter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81928" y="1764792"/>
            <a:ext cx="2642615" cy="77723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parse · validate range · timestamp alignment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per-patient routing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72200" y="2788920"/>
            <a:ext cx="132588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07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2825496"/>
            <a:ext cx="64008" cy="1069848"/>
          </a:xfrm>
          <a:prstGeom prst="rect">
            <a:avLst/>
          </a:prstGeom>
          <a:solidFill>
            <a:srgbClr val="E07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81928" y="2816351"/>
            <a:ext cx="117957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Window buffer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81928" y="3044952"/>
            <a:ext cx="1179576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last 24 CGM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+ timestamps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gap check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635240" y="2788920"/>
            <a:ext cx="132588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07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635240" y="2825496"/>
            <a:ext cx="64008" cy="1069848"/>
          </a:xfrm>
          <a:prstGeom prst="rect">
            <a:avLst/>
          </a:prstGeom>
          <a:solidFill>
            <a:srgbClr val="E07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44967" y="2816351"/>
            <a:ext cx="117957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EPS-TFT engine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44967" y="3044952"/>
            <a:ext cx="1179576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load model once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forward pass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→ 12 × 7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72200" y="4160520"/>
            <a:ext cx="278892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72200" y="4197096"/>
            <a:ext cx="64008" cy="7955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81928" y="4187952"/>
            <a:ext cx="2642615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Risk engine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81928" y="4416552"/>
            <a:ext cx="2642615" cy="59435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q0.25/q0.5/q0.75 × 12 steps → hypo (&lt;70) /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hyper (&gt;180) flags · tunable quantile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434840" y="2788920"/>
            <a:ext cx="1463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3E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434840" y="2825496"/>
            <a:ext cx="64008" cy="2167128"/>
          </a:xfrm>
          <a:prstGeom prst="rect">
            <a:avLst/>
          </a:prstGeom>
          <a:solidFill>
            <a:srgbClr val="3E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44568" y="2816351"/>
            <a:ext cx="131673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Local store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44568" y="3044952"/>
            <a:ext cx="1316736" cy="1965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model artifact</a:t>
            </a:r>
          </a:p>
          <a:p>
            <a:pPr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patient profile +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static context</a:t>
            </a:r>
          </a:p>
          <a:p>
            <a:pPr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prediction &amp;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event log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434840" y="5212080"/>
            <a:ext cx="452628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434840" y="5248656"/>
            <a:ext cx="64008" cy="5669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44568" y="5239512"/>
            <a:ext cx="437997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Notification &amp; API layer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44568" y="5468112"/>
            <a:ext cx="4379976" cy="36575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alert events · prediction query endpoint · export for review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5897880" y="2029968"/>
            <a:ext cx="274320" cy="0"/>
          </a:xfrm>
          <a:prstGeom prst="line">
            <a:avLst/>
          </a:prstGeom>
          <a:ln w="2540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6830568" y="2560320"/>
            <a:ext cx="0" cy="228600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498079" y="3355848"/>
            <a:ext cx="137161" cy="0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897880" y="3355848"/>
            <a:ext cx="274320" cy="0"/>
          </a:xfrm>
          <a:prstGeom prst="line">
            <a:avLst/>
          </a:prstGeom>
          <a:ln w="19050">
            <a:solidFill>
              <a:srgbClr val="3E4C5E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897880" y="3931920"/>
            <a:ext cx="137160" cy="0"/>
          </a:xfrm>
          <a:prstGeom prst="line">
            <a:avLst/>
          </a:prstGeom>
          <a:ln w="12700">
            <a:solidFill>
              <a:srgbClr val="3E4C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6035040" y="2697480"/>
            <a:ext cx="0" cy="1234440"/>
          </a:xfrm>
          <a:prstGeom prst="line">
            <a:avLst/>
          </a:prstGeom>
          <a:ln w="12700">
            <a:solidFill>
              <a:srgbClr val="3E4C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035040" y="2697480"/>
            <a:ext cx="2258568" cy="0"/>
          </a:xfrm>
          <a:prstGeom prst="line">
            <a:avLst/>
          </a:prstGeom>
          <a:ln w="12700">
            <a:solidFill>
              <a:srgbClr val="3E4C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293608" y="2697480"/>
            <a:ext cx="0" cy="91440"/>
          </a:xfrm>
          <a:prstGeom prst="line">
            <a:avLst/>
          </a:prstGeom>
          <a:ln w="12700">
            <a:solidFill>
              <a:srgbClr val="3E4C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293608" y="3931920"/>
            <a:ext cx="0" cy="228600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562088" y="5029200"/>
            <a:ext cx="0" cy="182880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886200" y="4462272"/>
            <a:ext cx="274320" cy="0"/>
          </a:xfrm>
          <a:prstGeom prst="line">
            <a:avLst/>
          </a:prstGeom>
          <a:ln w="28575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4160520" y="3840480"/>
            <a:ext cx="0" cy="621792"/>
          </a:xfrm>
          <a:prstGeom prst="line">
            <a:avLst/>
          </a:prstGeom>
          <a:ln w="28575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160520" y="3840480"/>
            <a:ext cx="274320" cy="0"/>
          </a:xfrm>
          <a:prstGeom prst="line">
            <a:avLst/>
          </a:prstGeom>
          <a:ln w="28575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3886200" y="5504688"/>
            <a:ext cx="320040" cy="0"/>
          </a:xfrm>
          <a:prstGeom prst="line">
            <a:avLst/>
          </a:prstGeom>
          <a:ln w="19050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206240" y="4572000"/>
            <a:ext cx="0" cy="932688"/>
          </a:xfrm>
          <a:prstGeom prst="line">
            <a:avLst/>
          </a:prstGeom>
          <a:ln w="19050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4206240" y="4572000"/>
            <a:ext cx="228600" cy="0"/>
          </a:xfrm>
          <a:prstGeom prst="line">
            <a:avLst/>
          </a:prstGeom>
          <a:ln w="19050">
            <a:solidFill>
              <a:srgbClr val="6A4C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9555480" y="1508760"/>
            <a:ext cx="214884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555480" y="1545336"/>
            <a:ext cx="64008" cy="932688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665207" y="1536192"/>
            <a:ext cx="200253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Patient app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665207" y="1764792"/>
            <a:ext cx="2002536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alert + 30/60-min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forecast with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uncertainty band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555480" y="2788920"/>
            <a:ext cx="214884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555480" y="2825496"/>
            <a:ext cx="64008" cy="932688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665207" y="2816351"/>
            <a:ext cx="200253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Clinician dashboard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665207" y="3044952"/>
            <a:ext cx="2002536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cohort view,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risk list, trends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555480" y="4069080"/>
            <a:ext cx="214884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55480" y="4105656"/>
            <a:ext cx="64008" cy="932688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665207" y="4096512"/>
            <a:ext cx="200253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Insulin decision logic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665207" y="4325112"/>
            <a:ext cx="2002536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e.g. predictive low-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glucose suspend rule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ŷ(t+60) ≤ 70 mg/dL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555480" y="5257800"/>
            <a:ext cx="214884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55480" y="5294376"/>
            <a:ext cx="64008" cy="566928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665207" y="5285232"/>
            <a:ext cx="200253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Evaluation / audit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665207" y="5513832"/>
            <a:ext cx="2002536" cy="36575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55F6B"/>
                </a:solidFill>
                <a:latin typeface="Calibri"/>
              </a:rPr>
              <a:t>logs → retraining data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8961120" y="5532120"/>
            <a:ext cx="292608" cy="0"/>
          </a:xfrm>
          <a:prstGeom prst="line">
            <a:avLst/>
          </a:prstGeom>
          <a:ln w="22225">
            <a:solidFill>
              <a:srgbClr val="2E7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253728" y="2011680"/>
            <a:ext cx="0" cy="3520440"/>
          </a:xfrm>
          <a:prstGeom prst="line">
            <a:avLst/>
          </a:prstGeom>
          <a:ln w="22225">
            <a:solidFill>
              <a:srgbClr val="2E7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9253728" y="2011680"/>
            <a:ext cx="301752" cy="0"/>
          </a:xfrm>
          <a:prstGeom prst="line">
            <a:avLst/>
          </a:prstGeom>
          <a:ln w="22225">
            <a:solidFill>
              <a:srgbClr val="2E7D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253728" y="3291840"/>
            <a:ext cx="301752" cy="0"/>
          </a:xfrm>
          <a:prstGeom prst="line">
            <a:avLst/>
          </a:prstGeom>
          <a:ln w="22225">
            <a:solidFill>
              <a:srgbClr val="2E7D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253728" y="4572000"/>
            <a:ext cx="301752" cy="0"/>
          </a:xfrm>
          <a:prstGeom prst="line">
            <a:avLst/>
          </a:prstGeom>
          <a:ln w="22225">
            <a:solidFill>
              <a:srgbClr val="2E7D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9253728" y="5577840"/>
            <a:ext cx="301752" cy="0"/>
          </a:xfrm>
          <a:prstGeom prst="line">
            <a:avLst/>
          </a:prstGeom>
          <a:ln w="19050">
            <a:solidFill>
              <a:srgbClr val="2E7D4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tangle 121"/>
          <p:cNvSpPr/>
          <p:nvPr/>
        </p:nvSpPr>
        <p:spPr>
          <a:xfrm>
            <a:off x="365760" y="6217920"/>
            <a:ext cx="164592" cy="12801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66928" y="617220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E4C5E"/>
                </a:solidFill>
                <a:latin typeface="Calibri"/>
              </a:rPr>
              <a:t>Training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148840" y="6217920"/>
            <a:ext cx="164592" cy="128016"/>
          </a:xfrm>
          <a:prstGeom prst="rect">
            <a:avLst/>
          </a:prstGeom>
          <a:solidFill>
            <a:srgbClr val="E07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350008" y="617220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E4C5E"/>
                </a:solidFill>
                <a:latin typeface="Calibri"/>
              </a:rPr>
              <a:t>Inference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931920" y="6217920"/>
            <a:ext cx="164592" cy="128016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133087" y="617220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E4C5E"/>
                </a:solidFill>
                <a:latin typeface="Calibri"/>
              </a:rPr>
              <a:t>Context data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715000" y="6217920"/>
            <a:ext cx="164592" cy="12801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916168" y="617220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E4C5E"/>
                </a:solidFill>
                <a:latin typeface="Calibri"/>
              </a:rPr>
              <a:t>Safety / alert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498079" y="6217920"/>
            <a:ext cx="164592" cy="128016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699248" y="617220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3E4C5E"/>
                </a:solidFill>
                <a:latin typeface="Calibri"/>
              </a:rPr>
              <a:t>Consumer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"/>
            <a:ext cx="91440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FC7EF"/>
                </a:solidFill>
                <a:latin typeface="Calibri"/>
              </a:rPr>
              <a:t>SOFTWARE STACK  ·  TOP → BOTTOM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2608"/>
            <a:ext cx="109728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2 · Vertical Layered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GlucoRAG · EPS-TFT Reference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457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2011680" cy="822960"/>
          </a:xfrm>
          <a:prstGeom prst="roundRect">
            <a:avLst>
              <a:gd name="adj" fmla="val 6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9202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L6 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1097280"/>
            <a:ext cx="184708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097280"/>
            <a:ext cx="1847088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Patient app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alerts + forecast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097280"/>
            <a:ext cx="184708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097280"/>
            <a:ext cx="1847088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Clinician dashboard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cohort risk 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097280"/>
            <a:ext cx="184708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097280"/>
            <a:ext cx="1847088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Prediction API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(query / export)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097280"/>
            <a:ext cx="184708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097280"/>
            <a:ext cx="1847088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Alarm policy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settings (quantile)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95560" y="1097280"/>
            <a:ext cx="1645920" cy="822960"/>
          </a:xfrm>
          <a:prstGeom prst="roundRect">
            <a:avLst>
              <a:gd name="adj" fmla="val 6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5560" y="1097280"/>
            <a:ext cx="16459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1">
                <a:solidFill>
                  <a:srgbClr val="3E4C5E"/>
                </a:solidFill>
                <a:latin typeface="Calibri"/>
              </a:rPr>
              <a:t>UI / API contracts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1984248"/>
            <a:ext cx="2011680" cy="82296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1984248"/>
            <a:ext cx="19202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L5  DECISION SUPPORT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14600" y="1984248"/>
            <a:ext cx="184708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1984248"/>
            <a:ext cx="1847088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Hypo detector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ŷ ≤ 70 mg/dL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1984248"/>
            <a:ext cx="184708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1984248"/>
            <a:ext cx="1847088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Hyper detector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ŷ ≥ 180 mg/dL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1984248"/>
            <a:ext cx="184708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984248"/>
            <a:ext cx="1847088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Uncertainty gate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q0.25 / q0.75 band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1984248"/>
            <a:ext cx="184708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1984248"/>
            <a:ext cx="1847088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Missing-data guard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gap &gt; 60 min → suspend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95560" y="1984248"/>
            <a:ext cx="1645920" cy="822960"/>
          </a:xfrm>
          <a:prstGeom prst="roundRect">
            <a:avLst>
              <a:gd name="adj" fmla="val 6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5560" y="1984248"/>
            <a:ext cx="16459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1">
                <a:solidFill>
                  <a:srgbClr val="3E4C5E"/>
                </a:solidFill>
                <a:latin typeface="Calibri"/>
              </a:rPr>
              <a:t>Risk flags, severity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2871215"/>
            <a:ext cx="2011680" cy="822960"/>
          </a:xfrm>
          <a:prstGeom prst="roundRect">
            <a:avLst>
              <a:gd name="adj" fmla="val 6000"/>
            </a:avLst>
          </a:prstGeom>
          <a:solidFill>
            <a:srgbClr val="E07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2871215"/>
            <a:ext cx="19202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L4  INFERENCE (EPS-TFT)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14600" y="2871215"/>
            <a:ext cx="184708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7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14600" y="2871215"/>
            <a:ext cx="1847088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Variable selection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networks (enc/dec)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2871215"/>
            <a:ext cx="184708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7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2871215"/>
            <a:ext cx="1847088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LSTM encoder (24)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+ decoder (12)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2871215"/>
            <a:ext cx="184708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7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2871215"/>
            <a:ext cx="1847088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Static enrichment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+ multi-head attention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75320" y="2871215"/>
            <a:ext cx="184708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7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20" y="2871215"/>
            <a:ext cx="1847088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GRN FFN + quantile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head (12 × 7)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95560" y="2871215"/>
            <a:ext cx="1645920" cy="822960"/>
          </a:xfrm>
          <a:prstGeom prst="roundRect">
            <a:avLst>
              <a:gd name="adj" fmla="val 6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95560" y="2871215"/>
            <a:ext cx="16459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1">
                <a:solidFill>
                  <a:srgbClr val="3E4C5E"/>
                </a:solidFill>
                <a:latin typeface="Calibri"/>
              </a:rPr>
              <a:t>ŷ ∈ ℝ^(12×7)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3758183"/>
            <a:ext cx="2011680" cy="82296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3758183"/>
            <a:ext cx="19202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L3  FEATURE &amp; CONTEXT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14600" y="3758183"/>
            <a:ext cx="184708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14600" y="3758183"/>
            <a:ext cx="1847088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Sliding window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24 × {CGM, t}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34840" y="3758183"/>
            <a:ext cx="184708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34840" y="3758183"/>
            <a:ext cx="1847088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Known future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12 × {t}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55080" y="3758183"/>
            <a:ext cx="184708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3758183"/>
            <a:ext cx="1847088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Static context vectors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(precomputed)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75320" y="3758183"/>
            <a:ext cx="184708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75320" y="3758183"/>
            <a:ext cx="1847088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z-normalization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params (μ, σ)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95560" y="3758183"/>
            <a:ext cx="1645920" cy="822960"/>
          </a:xfrm>
          <a:prstGeom prst="roundRect">
            <a:avLst>
              <a:gd name="adj" fmla="val 6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95560" y="3758183"/>
            <a:ext cx="16459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1">
                <a:solidFill>
                  <a:srgbClr val="3E4C5E"/>
                </a:solidFill>
                <a:latin typeface="Calibri"/>
              </a:rPr>
              <a:t>Tensors X_enc, X_dec, 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1480" y="4645151"/>
            <a:ext cx="2011680" cy="822960"/>
          </a:xfrm>
          <a:prstGeom prst="roundRect">
            <a:avLst>
              <a:gd name="adj" fmla="val 6000"/>
            </a:avLst>
          </a:prstGeom>
          <a:solidFill>
            <a:srgbClr val="00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645151"/>
            <a:ext cx="19202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L2  DATA INGESTION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514600" y="4645151"/>
            <a:ext cx="184708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96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14600" y="4645151"/>
            <a:ext cx="1847088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CGM source adapter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(stream / file replay)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434840" y="4645151"/>
            <a:ext cx="184708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96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34840" y="4645151"/>
            <a:ext cx="1847088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Validation &amp;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timestamp alignment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55080" y="4645151"/>
            <a:ext cx="184708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96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4645151"/>
            <a:ext cx="1847088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Per-patient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window buffer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75320" y="4645151"/>
            <a:ext cx="184708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96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75320" y="4645151"/>
            <a:ext cx="1847088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Causal linear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imputation (&lt;60 min)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195560" y="4645151"/>
            <a:ext cx="1645920" cy="822960"/>
          </a:xfrm>
          <a:prstGeom prst="roundRect">
            <a:avLst>
              <a:gd name="adj" fmla="val 6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95560" y="4645151"/>
            <a:ext cx="16459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1">
                <a:solidFill>
                  <a:srgbClr val="3E4C5E"/>
                </a:solidFill>
                <a:latin typeface="Calibri"/>
              </a:rPr>
              <a:t>mg/dL @ 5/15 min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11480" y="5532119"/>
            <a:ext cx="2011680" cy="822960"/>
          </a:xfrm>
          <a:prstGeom prst="roundRect">
            <a:avLst>
              <a:gd name="adj" fmla="val 6000"/>
            </a:avLst>
          </a:prstGeom>
          <a:solidFill>
            <a:srgbClr val="3E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5532119"/>
            <a:ext cx="19202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L1  PLATFORM &amp; STORAGE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514600" y="5532119"/>
            <a:ext cx="184708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E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14600" y="5532119"/>
            <a:ext cx="1847088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Python · PyTorch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(training &amp; inference)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434840" y="5532119"/>
            <a:ext cx="184708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E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34840" y="5532119"/>
            <a:ext cx="1847088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Model registry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(checkpoints, μ/σ)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55080" y="5532119"/>
            <a:ext cx="184708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E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55080" y="5532119"/>
            <a:ext cx="1847088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Patient profile &amp;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prediction log store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275320" y="5532119"/>
            <a:ext cx="184708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3E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75320" y="5532119"/>
            <a:ext cx="1847088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Config, logging,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versioning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195560" y="5532119"/>
            <a:ext cx="1645920" cy="822960"/>
          </a:xfrm>
          <a:prstGeom prst="roundRect">
            <a:avLst>
              <a:gd name="adj" fmla="val 6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195560" y="5532119"/>
            <a:ext cx="16459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1">
                <a:solidFill>
                  <a:srgbClr val="3E4C5E"/>
                </a:solidFill>
                <a:latin typeface="Calibri"/>
              </a:rPr>
              <a:t>Runtime services</a:t>
            </a:r>
          </a:p>
        </p:txBody>
      </p:sp>
      <p:cxnSp>
        <p:nvCxnSpPr>
          <p:cNvPr id="80" name="Connector 79"/>
          <p:cNvCxnSpPr/>
          <p:nvPr/>
        </p:nvCxnSpPr>
        <p:spPr>
          <a:xfrm flipV="1">
            <a:off x="11996928" y="1143000"/>
            <a:ext cx="0" cy="5212080"/>
          </a:xfrm>
          <a:prstGeom prst="line">
            <a:avLst/>
          </a:prstGeom>
          <a:ln w="31750">
            <a:solidFill>
              <a:srgbClr val="0096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228600" y="1143000"/>
            <a:ext cx="0" cy="5212080"/>
          </a:xfrm>
          <a:prstGeom prst="line">
            <a:avLst/>
          </a:prstGeom>
          <a:ln w="317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1795760" y="6400800"/>
            <a:ext cx="45720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00967D"/>
                </a:solidFill>
                <a:latin typeface="Calibri"/>
              </a:rPr>
              <a:t>data ↑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" y="6400800"/>
            <a:ext cx="73152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C0392B"/>
                </a:solidFill>
                <a:latin typeface="Calibri"/>
              </a:rPr>
              <a:t>control 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"/>
            <a:ext cx="91440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FC7EF"/>
                </a:solidFill>
                <a:latin typeface="Calibri"/>
              </a:rPr>
              <a:t>MODEL  ·  d_model = hidden size, B = batch, 24 past + 12 future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2608"/>
            <a:ext cx="109728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3 · Temporal Fusion Transformer — Tensor-Level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GlucoRAG · EPS-TFT Reference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457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188720"/>
            <a:ext cx="2468880" cy="4937760"/>
          </a:xfrm>
          <a:prstGeom prst="roundRect">
            <a:avLst>
              <a:gd name="adj" fmla="val 2000"/>
            </a:avLst>
          </a:prstGeom>
          <a:noFill/>
          <a:ln w="19050">
            <a:solidFill>
              <a:srgbClr val="3E4C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758952" cy="274320"/>
          </a:xfrm>
          <a:prstGeom prst="roundRect">
            <a:avLst>
              <a:gd name="adj" fmla="val 30000"/>
            </a:avLst>
          </a:prstGeom>
          <a:solidFill>
            <a:srgbClr val="3E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51560"/>
            <a:ext cx="758952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INPUTS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21945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99616"/>
            <a:ext cx="64008" cy="795528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490472"/>
            <a:ext cx="2048255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Static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719072"/>
            <a:ext cx="2048255" cy="59435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B × 4  (gender, age,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BMI, diabetes type)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06040"/>
            <a:ext cx="219456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96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642616"/>
            <a:ext cx="64008" cy="932688"/>
          </a:xfrm>
          <a:prstGeom prst="rect">
            <a:avLst/>
          </a:prstGeom>
          <a:solidFill>
            <a:srgbClr val="00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633472"/>
            <a:ext cx="2048255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Past observed + known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862072"/>
            <a:ext cx="2048255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B × 24 × 2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{CGM mg/dL, time-of-day}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t−115 … t (5-min)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86200"/>
            <a:ext cx="2194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96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22776"/>
            <a:ext cx="64008" cy="841248"/>
          </a:xfrm>
          <a:prstGeom prst="rect">
            <a:avLst/>
          </a:prstGeom>
          <a:solidFill>
            <a:srgbClr val="00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913632"/>
            <a:ext cx="2048255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Future known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142232"/>
            <a:ext cx="2048255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B × 12 × 1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{time-of-day}  t+5 … t+60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74920"/>
            <a:ext cx="21945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55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111496"/>
            <a:ext cx="64008" cy="795528"/>
          </a:xfrm>
          <a:prstGeom prst="rect">
            <a:avLst/>
          </a:prstGeom>
          <a:solidFill>
            <a:srgbClr val="55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02352"/>
            <a:ext cx="2048255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Target (training)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330952"/>
            <a:ext cx="2048255" cy="59435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B × 12  y(t+5 … t+60)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17520" y="1188720"/>
            <a:ext cx="2286000" cy="4937760"/>
          </a:xfrm>
          <a:prstGeom prst="roundRect">
            <a:avLst>
              <a:gd name="adj" fmla="val 2000"/>
            </a:avLst>
          </a:prstGeom>
          <a:noFill/>
          <a:ln w="19050">
            <a:solidFill>
              <a:srgbClr val="6A4C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154679" y="1051560"/>
            <a:ext cx="1344168" cy="2743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4679" y="1051560"/>
            <a:ext cx="1344168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EMBED &amp; SELECT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54680" y="1463040"/>
            <a:ext cx="2011680" cy="868680"/>
          </a:xfrm>
          <a:prstGeom prst="roundRect">
            <a:avLst>
              <a:gd name="adj" fmla="val 8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54680" y="1463040"/>
            <a:ext cx="201168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Static covariate encoder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4 × GRN → c_s, c_e, c_c, c_h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54680" y="260604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00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54680" y="2606040"/>
            <a:ext cx="201168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Encoder VSN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per-var linear embed →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GRN(·, c_s) → softmax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B × 24 × 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54680" y="38862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0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4680" y="3886200"/>
            <a:ext cx="20116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Decoder VSN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GRN(·, c_s) → softmax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B × 12 × 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5029200"/>
            <a:ext cx="20116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6A4C93"/>
                </a:solidFill>
                <a:latin typeface="Calibri"/>
              </a:rPr>
              <a:t>c_s → variable selection</a:t>
            </a:r>
          </a:p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6A4C93"/>
                </a:solidFill>
                <a:latin typeface="Calibri"/>
              </a:rPr>
              <a:t>c_c, c_h → LSTM (h₀, c₀)</a:t>
            </a:r>
          </a:p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6A4C93"/>
                </a:solidFill>
                <a:latin typeface="Calibri"/>
              </a:rPr>
              <a:t>c_e → static enrichment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651760" y="1892807"/>
            <a:ext cx="502920" cy="0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651760" y="3108960"/>
            <a:ext cx="502920" cy="0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651760" y="4343400"/>
            <a:ext cx="502920" cy="0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532120" y="1188720"/>
            <a:ext cx="2148840" cy="4937760"/>
          </a:xfrm>
          <a:prstGeom prst="roundRect">
            <a:avLst>
              <a:gd name="adj" fmla="val 2000"/>
            </a:avLst>
          </a:prstGeom>
          <a:noFill/>
          <a:ln w="19050">
            <a:solidFill>
              <a:srgbClr val="1F5F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669280" y="1051560"/>
            <a:ext cx="905256" cy="274320"/>
          </a:xfrm>
          <a:prstGeom prst="roundRect">
            <a:avLst>
              <a:gd name="adj" fmla="val 3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0" y="1051560"/>
            <a:ext cx="905256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SEQUENCE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0" y="2606040"/>
            <a:ext cx="1874519" cy="1005840"/>
          </a:xfrm>
          <a:prstGeom prst="roundRect">
            <a:avLst>
              <a:gd name="adj" fmla="val 8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0" y="2606040"/>
            <a:ext cx="1874519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LSTM encoder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24 steps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h₀,c₀ ← c_h,c_c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0" y="3886200"/>
            <a:ext cx="1874519" cy="914400"/>
          </a:xfrm>
          <a:prstGeom prst="roundRect">
            <a:avLst>
              <a:gd name="adj" fmla="val 8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0" y="3886200"/>
            <a:ext cx="1874519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LSTM decoder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12 steps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init ← encoder state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0" y="5074920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3E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0" y="5074920"/>
            <a:ext cx="1874519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Gate + Add &amp; Norm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GLU skip over LSTM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φ ∈ B × 36 × d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166360" y="3108960"/>
            <a:ext cx="502920" cy="0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166360" y="4343400"/>
            <a:ext cx="502920" cy="0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601968" y="3611880"/>
            <a:ext cx="0" cy="274320"/>
          </a:xfrm>
          <a:prstGeom prst="line">
            <a:avLst/>
          </a:prstGeom>
          <a:ln w="19050">
            <a:solidFill>
              <a:srgbClr val="1F5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601968" y="4800600"/>
            <a:ext cx="0" cy="274320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66360" y="1892807"/>
            <a:ext cx="320040" cy="0"/>
          </a:xfrm>
          <a:prstGeom prst="line">
            <a:avLst/>
          </a:prstGeom>
          <a:ln w="1587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486400" y="1892807"/>
            <a:ext cx="0" cy="484633"/>
          </a:xfrm>
          <a:prstGeom prst="line">
            <a:avLst/>
          </a:prstGeom>
          <a:ln w="1587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486400" y="2377440"/>
            <a:ext cx="1115568" cy="0"/>
          </a:xfrm>
          <a:prstGeom prst="line">
            <a:avLst/>
          </a:prstGeom>
          <a:ln w="15875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601968" y="2377440"/>
            <a:ext cx="0" cy="228600"/>
          </a:xfrm>
          <a:prstGeom prst="line">
            <a:avLst/>
          </a:prstGeom>
          <a:ln w="15875">
            <a:solidFill>
              <a:srgbClr val="6A4C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7909560" y="1188720"/>
            <a:ext cx="2148840" cy="4937760"/>
          </a:xfrm>
          <a:prstGeom prst="roundRect">
            <a:avLst>
              <a:gd name="adj" fmla="val 2000"/>
            </a:avLst>
          </a:prstGeom>
          <a:noFill/>
          <a:ln w="19050">
            <a:solidFill>
              <a:srgbClr val="E0721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046720" y="1051560"/>
            <a:ext cx="1417319" cy="274320"/>
          </a:xfrm>
          <a:prstGeom prst="roundRect">
            <a:avLst>
              <a:gd name="adj" fmla="val 30000"/>
            </a:avLst>
          </a:prstGeom>
          <a:solidFill>
            <a:srgbClr val="E07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6720" y="1051560"/>
            <a:ext cx="1417319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TEMPORAL FUSION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46720" y="5074920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46720" y="5074920"/>
            <a:ext cx="1874519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Static enrichment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GRN(φ, c_e)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B × 36 × 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46720" y="3749039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E07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46720" y="3749039"/>
            <a:ext cx="1874519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Interpretable MHSA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N heads, causal mask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shared V, avg heads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Q,K,V ∈ B×36×d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46720" y="2606040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3E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46720" y="2606040"/>
            <a:ext cx="1874519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Gate + Add &amp; Norm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→ GRN position-wise FFN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46720" y="1463040"/>
            <a:ext cx="1874519" cy="868680"/>
          </a:xfrm>
          <a:prstGeom prst="roundRect">
            <a:avLst>
              <a:gd name="adj" fmla="val 8000"/>
            </a:avLst>
          </a:prstGeom>
          <a:solidFill>
            <a:srgbClr val="3E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46720" y="1463040"/>
            <a:ext cx="1874519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Gate + Add &amp; Norm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(skip whole block)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543800" y="5504688"/>
            <a:ext cx="502920" cy="0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8979408" y="4800600"/>
            <a:ext cx="0" cy="274320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8979408" y="3474720"/>
            <a:ext cx="0" cy="274319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979408" y="2331720"/>
            <a:ext cx="0" cy="274320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10287000" y="1188720"/>
            <a:ext cx="1645920" cy="4937760"/>
          </a:xfrm>
          <a:prstGeom prst="roundRect">
            <a:avLst>
              <a:gd name="adj" fmla="val 2000"/>
            </a:avLst>
          </a:prstGeom>
          <a:noFill/>
          <a:ln w="19050">
            <a:solidFill>
              <a:srgbClr val="2E7D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424160" y="1051560"/>
            <a:ext cx="758952" cy="274320"/>
          </a:xfrm>
          <a:prstGeom prst="roundRect">
            <a:avLst>
              <a:gd name="adj" fmla="val 3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424160" y="1051560"/>
            <a:ext cx="758952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424160" y="1463040"/>
            <a:ext cx="1371600" cy="1188720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424160" y="1463040"/>
            <a:ext cx="1371600" cy="11887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Dense head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12 decoder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positions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→ B × 12 × 7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424160" y="2926080"/>
            <a:ext cx="1371600" cy="1234440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424160" y="2926080"/>
            <a:ext cx="1371600" cy="1234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Quantiles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q ∈ {.02,.10,.25,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.50,.75,.90,.98}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424160" y="4434840"/>
            <a:ext cx="1371600" cy="150876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424160" y="4434840"/>
            <a:ext cx="1371600" cy="1508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Quantile loss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L = 1/τ Σᵢ Σ_q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(1−q)(ŷ−y)⁺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+ q(y−ŷ)⁺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9921240" y="1892807"/>
            <a:ext cx="502920" cy="0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1109960" y="2651760"/>
            <a:ext cx="0" cy="274320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1109960" y="4160520"/>
            <a:ext cx="0" cy="274320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651760" y="5504688"/>
            <a:ext cx="228600" cy="0"/>
          </a:xfrm>
          <a:prstGeom prst="line">
            <a:avLst/>
          </a:prstGeom>
          <a:ln w="12700">
            <a:solidFill>
              <a:srgbClr val="555F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880360" y="5504688"/>
            <a:ext cx="0" cy="548640"/>
          </a:xfrm>
          <a:prstGeom prst="line">
            <a:avLst/>
          </a:prstGeom>
          <a:ln w="12700">
            <a:solidFill>
              <a:srgbClr val="555F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880360" y="6053328"/>
            <a:ext cx="7452360" cy="0"/>
          </a:xfrm>
          <a:prstGeom prst="line">
            <a:avLst/>
          </a:prstGeom>
          <a:ln w="12700">
            <a:solidFill>
              <a:srgbClr val="555F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332720" y="5669280"/>
            <a:ext cx="0" cy="384048"/>
          </a:xfrm>
          <a:prstGeom prst="line">
            <a:avLst/>
          </a:prstGeom>
          <a:ln w="12700">
            <a:solidFill>
              <a:srgbClr val="555F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0332720" y="5669280"/>
            <a:ext cx="91440" cy="0"/>
          </a:xfrm>
          <a:prstGeom prst="line">
            <a:avLst/>
          </a:prstGeom>
          <a:ln w="12700">
            <a:solidFill>
              <a:srgbClr val="555F6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320040" y="6217920"/>
            <a:ext cx="116128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3E4C5E"/>
                </a:solidFill>
                <a:latin typeface="Consolas"/>
              </a:rPr>
              <a:t>GLU(z) = σ(W_g z + b_g) ⊙ (W_l z + b_l)     GRN(p,e) = LN(p + GLU(W a + b)),  a = ELU(W_p p + W_e e + 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"/>
            <a:ext cx="91440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FC7EF"/>
                </a:solidFill>
                <a:latin typeface="Calibri"/>
              </a:rPr>
              <a:t>CODE ORGANISATION  ·  MODULES, RESPONSIBILITIES, 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2608"/>
            <a:ext cx="109728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4 · Software Module &amp; Component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GlucoRAG · EPS-TFT Reference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457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188720"/>
            <a:ext cx="5669280" cy="2331720"/>
          </a:xfrm>
          <a:prstGeom prst="roundRect">
            <a:avLst>
              <a:gd name="adj" fmla="val 2000"/>
            </a:avLst>
          </a:prstGeom>
          <a:noFill/>
          <a:ln w="19050">
            <a:solidFill>
              <a:srgbClr val="1F5F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051560"/>
            <a:ext cx="1856231" cy="274320"/>
          </a:xfrm>
          <a:prstGeom prst="roundRect">
            <a:avLst>
              <a:gd name="adj" fmla="val 3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51560"/>
            <a:ext cx="1856231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TRAINING-TIME 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63040"/>
            <a:ext cx="169164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499616"/>
            <a:ext cx="64008" cy="79552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90472"/>
            <a:ext cx="154533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1719072"/>
            <a:ext cx="1545336" cy="59435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dataset loaders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OhioT1DM · ShanghaiDM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per-subject splits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1463040"/>
            <a:ext cx="169164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31720" y="1499616"/>
            <a:ext cx="64008" cy="79552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41448" y="1490472"/>
            <a:ext cx="154533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preprocess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1448" y="1719072"/>
            <a:ext cx="1545336" cy="59435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imputation · clipping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normalization · windows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1463040"/>
            <a:ext cx="169164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07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1499616"/>
            <a:ext cx="64008" cy="795528"/>
          </a:xfrm>
          <a:prstGeom prst="rect">
            <a:avLst/>
          </a:prstGeom>
          <a:solidFill>
            <a:srgbClr val="E07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70248" y="1490472"/>
            <a:ext cx="154533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models/tft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719072"/>
            <a:ext cx="1545336" cy="59435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GLU · GRN · VSN · LSTM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MHSA · quantile head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468880"/>
            <a:ext cx="169164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2505456"/>
            <a:ext cx="64008" cy="79552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2496312"/>
            <a:ext cx="154533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train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2724912"/>
            <a:ext cx="1545336" cy="59435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Adam · quantile loss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HyperBand · early stop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31720" y="2468880"/>
            <a:ext cx="169164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31720" y="2505456"/>
            <a:ext cx="64008" cy="795528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41448" y="2496312"/>
            <a:ext cx="154533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evaluate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41448" y="2724912"/>
            <a:ext cx="1545336" cy="59435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RMSE · MAE · MAPE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gRMSE · baselines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2468880"/>
            <a:ext cx="169164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20" y="2505456"/>
            <a:ext cx="64008" cy="795528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70248" y="2496312"/>
            <a:ext cx="154533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0248" y="2724912"/>
            <a:ext cx="1545336" cy="59435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VSN importance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attention weights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188720"/>
            <a:ext cx="5669280" cy="2331720"/>
          </a:xfrm>
          <a:prstGeom prst="roundRect">
            <a:avLst>
              <a:gd name="adj" fmla="val 2000"/>
            </a:avLst>
          </a:prstGeom>
          <a:noFill/>
          <a:ln w="19050">
            <a:solidFill>
              <a:srgbClr val="E0721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55080" y="1051560"/>
            <a:ext cx="1490472" cy="274320"/>
          </a:xfrm>
          <a:prstGeom prst="roundRect">
            <a:avLst>
              <a:gd name="adj" fmla="val 30000"/>
            </a:avLst>
          </a:prstGeom>
          <a:solidFill>
            <a:srgbClr val="E07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1051560"/>
            <a:ext cx="1490472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RUN-TIME MODULES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1463040"/>
            <a:ext cx="169164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096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1499616"/>
            <a:ext cx="64008" cy="795528"/>
          </a:xfrm>
          <a:prstGeom prst="rect">
            <a:avLst/>
          </a:prstGeom>
          <a:solidFill>
            <a:srgbClr val="00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0528" y="1490472"/>
            <a:ext cx="154533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ingest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0528" y="1719072"/>
            <a:ext cx="1545336" cy="59435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source adapters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validation · alignment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1463040"/>
            <a:ext cx="169164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1499616"/>
            <a:ext cx="64008" cy="795528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9327" y="1490472"/>
            <a:ext cx="154533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features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7" y="1719072"/>
            <a:ext cx="1545336" cy="59435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window buffer · μ/σ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static context lookup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58400" y="1463040"/>
            <a:ext cx="169164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07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058400" y="1499616"/>
            <a:ext cx="64008" cy="795528"/>
          </a:xfrm>
          <a:prstGeom prst="rect">
            <a:avLst/>
          </a:prstGeom>
          <a:solidFill>
            <a:srgbClr val="E07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68128" y="1490472"/>
            <a:ext cx="154533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inference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68128" y="1719072"/>
            <a:ext cx="1545336" cy="59435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model loader · forward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reuses models/tft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2468880"/>
            <a:ext cx="169164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0" y="2505456"/>
            <a:ext cx="64008" cy="7955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10528" y="2496312"/>
            <a:ext cx="154533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risk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10528" y="2724912"/>
            <a:ext cx="1545336" cy="59435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thresholds · quantile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gate · gap guard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29600" y="2468880"/>
            <a:ext cx="169164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29600" y="2505456"/>
            <a:ext cx="64008" cy="7955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39327" y="2496312"/>
            <a:ext cx="154533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notify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39327" y="2724912"/>
            <a:ext cx="1545336" cy="59435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alert events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de-duplication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058400" y="2468880"/>
            <a:ext cx="169164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058400" y="2505456"/>
            <a:ext cx="64008" cy="795528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168128" y="2496312"/>
            <a:ext cx="154533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api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68128" y="2724912"/>
            <a:ext cx="1545336" cy="59435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predictions · history</a:t>
            </a: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profiles · export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20040" y="3840480"/>
            <a:ext cx="11567160" cy="1143000"/>
          </a:xfrm>
          <a:prstGeom prst="roundRect">
            <a:avLst>
              <a:gd name="adj" fmla="val 2000"/>
            </a:avLst>
          </a:prstGeom>
          <a:noFill/>
          <a:ln w="19050">
            <a:solidFill>
              <a:srgbClr val="3E4C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57200" y="3703320"/>
            <a:ext cx="1124712" cy="274320"/>
          </a:xfrm>
          <a:prstGeom prst="roundRect">
            <a:avLst>
              <a:gd name="adj" fmla="val 30000"/>
            </a:avLst>
          </a:prstGeom>
          <a:solidFill>
            <a:srgbClr val="3E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3703320"/>
            <a:ext cx="1124712" cy="2743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SHARED CORE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4069080"/>
            <a:ext cx="2130552" cy="777240"/>
          </a:xfrm>
          <a:prstGeom prst="roundRect">
            <a:avLst>
              <a:gd name="adj" fmla="val 8000"/>
            </a:avLst>
          </a:prstGeom>
          <a:solidFill>
            <a:srgbClr val="3E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4069080"/>
            <a:ext cx="2130552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config (horizons, quantiles,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thresholds, paths)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770632" y="4069080"/>
            <a:ext cx="2130552" cy="777240"/>
          </a:xfrm>
          <a:prstGeom prst="roundRect">
            <a:avLst>
              <a:gd name="adj" fmla="val 8000"/>
            </a:avLst>
          </a:prstGeom>
          <a:solidFill>
            <a:srgbClr val="3E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70632" y="4069080"/>
            <a:ext cx="2130552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registry (model + μ/σ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+ version metadata)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38344" y="4069080"/>
            <a:ext cx="2130552" cy="777240"/>
          </a:xfrm>
          <a:prstGeom prst="roundRect">
            <a:avLst>
              <a:gd name="adj" fmla="val 8000"/>
            </a:avLst>
          </a:prstGeom>
          <a:solidFill>
            <a:srgbClr val="3E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38344" y="4069080"/>
            <a:ext cx="2130552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storage (profiles,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prediction &amp; event log)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06055" y="4069080"/>
            <a:ext cx="2130552" cy="777240"/>
          </a:xfrm>
          <a:prstGeom prst="roundRect">
            <a:avLst>
              <a:gd name="adj" fmla="val 8000"/>
            </a:avLst>
          </a:prstGeom>
          <a:solidFill>
            <a:srgbClr val="3E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06055" y="4069080"/>
            <a:ext cx="2130552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schemas (CGM record,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Prediction, Alert)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573768" y="4069080"/>
            <a:ext cx="2130552" cy="777240"/>
          </a:xfrm>
          <a:prstGeom prst="roundRect">
            <a:avLst>
              <a:gd name="adj" fmla="val 8000"/>
            </a:avLst>
          </a:prstGeom>
          <a:solidFill>
            <a:srgbClr val="3E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573768" y="4069080"/>
            <a:ext cx="2130552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logging &amp; metrics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3154680" y="3520440"/>
            <a:ext cx="0" cy="320040"/>
          </a:xfrm>
          <a:prstGeom prst="line">
            <a:avLst/>
          </a:prstGeom>
          <a:ln w="19050">
            <a:solidFill>
              <a:srgbClr val="3E4C5E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052560" y="3520440"/>
            <a:ext cx="0" cy="320040"/>
          </a:xfrm>
          <a:prstGeom prst="line">
            <a:avLst/>
          </a:prstGeom>
          <a:ln w="19050">
            <a:solidFill>
              <a:srgbClr val="3E4C5E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320040" y="5212080"/>
            <a:ext cx="115671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B2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5257800"/>
            <a:ext cx="36576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Key data contracts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5532120"/>
            <a:ext cx="113385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3E4C5E"/>
                </a:solidFill>
                <a:latin typeface="Consolas"/>
              </a:rPr>
              <a:t>CGMRecord {patient_id, timestamp, glucose_mg_dl}    PatientProfile {patient_id, age, gender, bmi, diabetes_type, context_vectors}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3E4C5E"/>
                </a:solidFill>
                <a:latin typeface="Consolas"/>
              </a:rPr>
              <a:t>Prediction {patient_id, t0, horizons[12], quantiles[7], values[12×7], model_version}    Alert {patient_id, type: hypo|hyper|data_gap, horizon_min, severity, t_raised}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"/>
            <a:ext cx="91440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FC7EF"/>
                </a:solidFill>
                <a:latin typeface="Calibri"/>
              </a:rPr>
              <a:t>BEHAVIOUR  ·  TRIGGERED BY EACH NEW CGM SAMPLE (5 or 15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2608"/>
            <a:ext cx="109728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5 · Runtime Sequence — One Prediction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GlucoRAG · EPS-TFT Reference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457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97280"/>
            <a:ext cx="1280160" cy="411480"/>
          </a:xfrm>
          <a:prstGeom prst="roundRect">
            <a:avLst>
              <a:gd name="adj" fmla="val 8000"/>
            </a:avLst>
          </a:prstGeom>
          <a:solidFill>
            <a:srgbClr val="00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128016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CGM source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80160" y="1508760"/>
            <a:ext cx="0" cy="4663440"/>
          </a:xfrm>
          <a:prstGeom prst="line">
            <a:avLst/>
          </a:prstGeom>
          <a:ln w="12700">
            <a:solidFill>
              <a:srgbClr val="B0B8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13432" y="1097280"/>
            <a:ext cx="1280160" cy="411480"/>
          </a:xfrm>
          <a:prstGeom prst="roundRect">
            <a:avLst>
              <a:gd name="adj" fmla="val 8000"/>
            </a:avLst>
          </a:prstGeom>
          <a:solidFill>
            <a:srgbClr val="00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3432" y="1097280"/>
            <a:ext cx="128016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Ingest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53512" y="1508760"/>
            <a:ext cx="0" cy="4663440"/>
          </a:xfrm>
          <a:prstGeom prst="line">
            <a:avLst/>
          </a:prstGeom>
          <a:ln w="12700">
            <a:solidFill>
              <a:srgbClr val="B0B8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986784" y="1097280"/>
            <a:ext cx="1280160" cy="411480"/>
          </a:xfrm>
          <a:prstGeom prst="roundRect">
            <a:avLst>
              <a:gd name="adj" fmla="val 8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86784" y="1097280"/>
            <a:ext cx="128016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Feature builder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26864" y="1508760"/>
            <a:ext cx="0" cy="4663440"/>
          </a:xfrm>
          <a:prstGeom prst="line">
            <a:avLst/>
          </a:prstGeom>
          <a:ln w="12700">
            <a:solidFill>
              <a:srgbClr val="B0B8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660136" y="1097280"/>
            <a:ext cx="1280160" cy="411480"/>
          </a:xfrm>
          <a:prstGeom prst="roundRect">
            <a:avLst>
              <a:gd name="adj" fmla="val 8000"/>
            </a:avLst>
          </a:prstGeom>
          <a:solidFill>
            <a:srgbClr val="E07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0136" y="1097280"/>
            <a:ext cx="128016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EPS-TFT engine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00216" y="1508760"/>
            <a:ext cx="0" cy="4663440"/>
          </a:xfrm>
          <a:prstGeom prst="line">
            <a:avLst/>
          </a:prstGeom>
          <a:ln w="12700">
            <a:solidFill>
              <a:srgbClr val="B0B8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33488" y="1097280"/>
            <a:ext cx="1280160" cy="41148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3488" y="1097280"/>
            <a:ext cx="128016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Risk engine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73567" y="1508760"/>
            <a:ext cx="0" cy="4663440"/>
          </a:xfrm>
          <a:prstGeom prst="line">
            <a:avLst/>
          </a:prstGeom>
          <a:ln w="12700">
            <a:solidFill>
              <a:srgbClr val="B0B8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06840" y="1097280"/>
            <a:ext cx="1280160" cy="411480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1097280"/>
            <a:ext cx="128016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Notifier / API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46919" y="1508760"/>
            <a:ext cx="0" cy="4663440"/>
          </a:xfrm>
          <a:prstGeom prst="line">
            <a:avLst/>
          </a:prstGeom>
          <a:ln w="12700">
            <a:solidFill>
              <a:srgbClr val="B0B8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680192" y="1097280"/>
            <a:ext cx="1280160" cy="411480"/>
          </a:xfrm>
          <a:prstGeom prst="roundRect">
            <a:avLst>
              <a:gd name="adj" fmla="val 8000"/>
            </a:avLst>
          </a:prstGeom>
          <a:solidFill>
            <a:srgbClr val="3E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80192" y="1097280"/>
            <a:ext cx="128016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Store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320272" y="1508760"/>
            <a:ext cx="0" cy="4663440"/>
          </a:xfrm>
          <a:prstGeom prst="line">
            <a:avLst/>
          </a:prstGeom>
          <a:ln w="12700">
            <a:solidFill>
              <a:srgbClr val="B0B8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280160" y="1874519"/>
            <a:ext cx="1673352" cy="0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325880" y="1627631"/>
            <a:ext cx="3044952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B223F"/>
                </a:solidFill>
                <a:latin typeface="Calibri"/>
              </a:rPr>
              <a:t>1  new reading {patient_id, t, mg/dL}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360" y="2093976"/>
            <a:ext cx="146304" cy="347472"/>
          </a:xfrm>
          <a:prstGeom prst="rect">
            <a:avLst/>
          </a:prstGeom>
          <a:solidFill>
            <a:srgbClr val="E07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0672" y="2075688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B223F"/>
                </a:solidFill>
                <a:latin typeface="Calibri"/>
              </a:rPr>
              <a:t>2  validate range 40–400 · align timestamp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3512" y="2679191"/>
            <a:ext cx="1673352" cy="0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999232" y="2432303"/>
            <a:ext cx="3044952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B223F"/>
                </a:solidFill>
                <a:latin typeface="Calibri"/>
              </a:rPr>
              <a:t>3  append to patient window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626864" y="3081527"/>
            <a:ext cx="6693408" cy="0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672584" y="2834639"/>
            <a:ext cx="8065007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B223F"/>
                </a:solidFill>
                <a:latin typeface="Calibri"/>
              </a:rPr>
              <a:t>4  load profile + static context, μ/σ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53712" y="3300984"/>
            <a:ext cx="146304" cy="347472"/>
          </a:xfrm>
          <a:prstGeom prst="rect">
            <a:avLst/>
          </a:prstGeom>
          <a:solidFill>
            <a:srgbClr val="E07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64024" y="3282696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B223F"/>
                </a:solidFill>
                <a:latin typeface="Calibri"/>
              </a:rPr>
              <a:t>5  gap check · impute (&lt;60 min) · z-norm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626864" y="3886200"/>
            <a:ext cx="1673352" cy="0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672584" y="3639311"/>
            <a:ext cx="3044952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B223F"/>
                </a:solidFill>
                <a:latin typeface="Calibri"/>
              </a:rPr>
              <a:t>6  infer(X_enc 24×2, X_dec 12×1, ctx)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27064" y="4105656"/>
            <a:ext cx="146304" cy="347472"/>
          </a:xfrm>
          <a:prstGeom prst="rect">
            <a:avLst/>
          </a:prstGeom>
          <a:solidFill>
            <a:srgbClr val="E07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37376" y="4087368"/>
            <a:ext cx="4572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B223F"/>
                </a:solidFill>
                <a:latin typeface="Calibri"/>
              </a:rPr>
              <a:t>7  VSN → LSTM → MHSA → quantile head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300216" y="4690872"/>
            <a:ext cx="1673351" cy="0"/>
          </a:xfrm>
          <a:prstGeom prst="line">
            <a:avLst/>
          </a:prstGeom>
          <a:ln w="19050">
            <a:solidFill>
              <a:srgbClr val="555F6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345936" y="4443984"/>
            <a:ext cx="3044951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B223F"/>
                </a:solidFill>
                <a:latin typeface="Calibri"/>
              </a:rPr>
              <a:t>8  ŷ 12 × 7 quantiles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973567" y="5093208"/>
            <a:ext cx="1673352" cy="0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019288" y="4846320"/>
            <a:ext cx="3044952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B223F"/>
                </a:solidFill>
                <a:latin typeface="Calibri"/>
              </a:rPr>
              <a:t>9  alert if hypo / hyper risk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646919" y="5495544"/>
            <a:ext cx="1673353" cy="0"/>
          </a:xfrm>
          <a:prstGeom prst="line">
            <a:avLst/>
          </a:prstGeom>
          <a:ln w="1905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692640" y="5248656"/>
            <a:ext cx="3044952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B223F"/>
                </a:solidFill>
                <a:latin typeface="Calibri"/>
              </a:rPr>
              <a:t>10  persist prediction + alert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1280160" y="5897880"/>
            <a:ext cx="8366759" cy="0"/>
          </a:xfrm>
          <a:prstGeom prst="line">
            <a:avLst/>
          </a:prstGeom>
          <a:ln w="19050">
            <a:solidFill>
              <a:srgbClr val="555F6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325880" y="5650992"/>
            <a:ext cx="9738359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B223F"/>
                </a:solidFill>
                <a:latin typeface="Calibri"/>
              </a:rPr>
              <a:t>11  push to patient app / dashboard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6217920"/>
            <a:ext cx="114300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3E4C5E"/>
                </a:solidFill>
                <a:latin typeface="Calibri"/>
              </a:rPr>
              <a:t>If gap &gt; 60 min at step 5: skip inference, raise data_gap alert.  Budget: whole cycle must finish well within one CGM sampling period (5 min).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"/>
            <a:ext cx="91440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FC7EF"/>
                </a:solidFill>
                <a:latin typeface="Calibri"/>
              </a:rPr>
              <a:t>DEVELOPMENT → VALIDATION → RELEASE →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2608"/>
            <a:ext cx="109728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6 · Data &amp; Model Lifecycle (MLOps)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GlucoRAG · EPS-TFT Reference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457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1307592" cy="457200"/>
          </a:xfrm>
          <a:prstGeom prst="roundRect">
            <a:avLst>
              <a:gd name="adj" fmla="val 8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1307592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Ingest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13075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37360"/>
            <a:ext cx="1307592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B223F"/>
                </a:solidFill>
                <a:latin typeface="Calibri"/>
              </a:rPr>
              <a:t>OhioT1DM / ShanghaiDM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B223F"/>
                </a:solidFill>
                <a:latin typeface="Calibri"/>
              </a:rPr>
              <a:t>raw CGM, demographics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73352" y="1508760"/>
            <a:ext cx="128016" cy="0"/>
          </a:xfrm>
          <a:prstGeom prst="line">
            <a:avLst/>
          </a:prstGeom>
          <a:ln w="2540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01367" y="1280160"/>
            <a:ext cx="1307592" cy="457200"/>
          </a:xfrm>
          <a:prstGeom prst="roundRect">
            <a:avLst>
              <a:gd name="adj" fmla="val 8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01367" y="1280160"/>
            <a:ext cx="1307592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Clean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01367" y="1737360"/>
            <a:ext cx="13075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01367" y="1737360"/>
            <a:ext cx="1307592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B223F"/>
                </a:solidFill>
                <a:latin typeface="Calibri"/>
              </a:rPr>
              <a:t>impute gaps (causal)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B223F"/>
                </a:solidFill>
                <a:latin typeface="Calibri"/>
              </a:rPr>
              <a:t>clip 40–400 · align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08959" y="1508760"/>
            <a:ext cx="128016" cy="0"/>
          </a:xfrm>
          <a:prstGeom prst="line">
            <a:avLst/>
          </a:prstGeom>
          <a:ln w="2540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236975" y="1280160"/>
            <a:ext cx="1307592" cy="457200"/>
          </a:xfrm>
          <a:prstGeom prst="roundRect">
            <a:avLst>
              <a:gd name="adj" fmla="val 8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36975" y="1280160"/>
            <a:ext cx="1307592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Engineer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36975" y="1737360"/>
            <a:ext cx="13075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5" y="1737360"/>
            <a:ext cx="1307592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B223F"/>
                </a:solidFill>
                <a:latin typeface="Calibri"/>
              </a:rPr>
              <a:t>windows 24→12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B223F"/>
                </a:solidFill>
                <a:latin typeface="Calibri"/>
              </a:rPr>
              <a:t>normalize · split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44568" y="1508760"/>
            <a:ext cx="128015" cy="0"/>
          </a:xfrm>
          <a:prstGeom prst="line">
            <a:avLst/>
          </a:prstGeom>
          <a:ln w="2540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672583" y="1280160"/>
            <a:ext cx="1307592" cy="457200"/>
          </a:xfrm>
          <a:prstGeom prst="roundRect">
            <a:avLst>
              <a:gd name="adj" fmla="val 8000"/>
            </a:avLst>
          </a:prstGeom>
          <a:solidFill>
            <a:srgbClr val="E07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72583" y="1280160"/>
            <a:ext cx="1307592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72583" y="1737360"/>
            <a:ext cx="13075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7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72583" y="1737360"/>
            <a:ext cx="1307592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B223F"/>
                </a:solidFill>
                <a:latin typeface="Calibri"/>
              </a:rPr>
              <a:t>TFT · quantile loss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B223F"/>
                </a:solidFill>
                <a:latin typeface="Calibri"/>
              </a:rPr>
              <a:t>HyperBand · 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80175" y="1508760"/>
            <a:ext cx="128016" cy="0"/>
          </a:xfrm>
          <a:prstGeom prst="line">
            <a:avLst/>
          </a:prstGeom>
          <a:ln w="2540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108192" y="1280160"/>
            <a:ext cx="1307592" cy="457200"/>
          </a:xfrm>
          <a:prstGeom prst="roundRect">
            <a:avLst>
              <a:gd name="adj" fmla="val 8000"/>
            </a:avLst>
          </a:prstGeom>
          <a:solidFill>
            <a:srgbClr val="E07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08192" y="1280160"/>
            <a:ext cx="1307592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Evaluate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08192" y="1737360"/>
            <a:ext cx="13075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7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08192" y="1737360"/>
            <a:ext cx="1307592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B223F"/>
                </a:solidFill>
                <a:latin typeface="Calibri"/>
              </a:rPr>
              <a:t>RMSE · MAE · MAPE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B223F"/>
                </a:solidFill>
                <a:latin typeface="Calibri"/>
              </a:rPr>
              <a:t>gRMSE @30/60 min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15783" y="1508760"/>
            <a:ext cx="128017" cy="0"/>
          </a:xfrm>
          <a:prstGeom prst="line">
            <a:avLst/>
          </a:prstGeom>
          <a:ln w="2540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543800" y="1280160"/>
            <a:ext cx="1307592" cy="457200"/>
          </a:xfrm>
          <a:prstGeom prst="roundRect">
            <a:avLst>
              <a:gd name="adj" fmla="val 8000"/>
            </a:avLst>
          </a:prstGeom>
          <a:solidFill>
            <a:srgbClr val="3E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800" y="1280160"/>
            <a:ext cx="1307592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Register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43800" y="1737360"/>
            <a:ext cx="13075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E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3800" y="1737360"/>
            <a:ext cx="1307592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B223F"/>
                </a:solidFill>
                <a:latin typeface="Calibri"/>
              </a:rPr>
              <a:t>checkpoint + μ/σ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B223F"/>
                </a:solidFill>
                <a:latin typeface="Calibri"/>
              </a:rPr>
              <a:t>+ metadata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851392" y="1508760"/>
            <a:ext cx="128016" cy="0"/>
          </a:xfrm>
          <a:prstGeom prst="line">
            <a:avLst/>
          </a:prstGeom>
          <a:ln w="2540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979407" y="1280160"/>
            <a:ext cx="1307592" cy="457200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79407" y="1280160"/>
            <a:ext cx="1307592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Release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79407" y="1737360"/>
            <a:ext cx="13075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79407" y="1737360"/>
            <a:ext cx="1307592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B223F"/>
                </a:solidFill>
                <a:latin typeface="Calibri"/>
              </a:rPr>
              <a:t>load into inference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B223F"/>
                </a:solidFill>
                <a:latin typeface="Calibri"/>
              </a:rPr>
              <a:t>service (versioned)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286999" y="1508760"/>
            <a:ext cx="128016" cy="0"/>
          </a:xfrm>
          <a:prstGeom prst="line">
            <a:avLst/>
          </a:prstGeom>
          <a:ln w="25400">
            <a:solidFill>
              <a:srgbClr val="0B22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0415015" y="1280160"/>
            <a:ext cx="1307592" cy="4572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15015" y="1280160"/>
            <a:ext cx="1307592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Monitor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15015" y="1737360"/>
            <a:ext cx="13075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15015" y="1737360"/>
            <a:ext cx="1307592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B223F"/>
                </a:solidFill>
                <a:latin typeface="Calibri"/>
              </a:rPr>
              <a:t>error drift · alert</a:t>
            </a:r>
          </a:p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0B223F"/>
                </a:solidFill>
                <a:latin typeface="Calibri"/>
              </a:rPr>
              <a:t>rates · data gaps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1548872" y="2697480"/>
            <a:ext cx="0" cy="274320"/>
          </a:xfrm>
          <a:prstGeom prst="line">
            <a:avLst/>
          </a:prstGeom>
          <a:ln w="1905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5326379" y="2971800"/>
            <a:ext cx="6222493" cy="0"/>
          </a:xfrm>
          <a:prstGeom prst="line">
            <a:avLst/>
          </a:prstGeom>
          <a:ln w="1905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5326379" y="2697480"/>
            <a:ext cx="0" cy="274320"/>
          </a:xfrm>
          <a:prstGeom prst="line">
            <a:avLst/>
          </a:prstGeom>
          <a:ln w="19050">
            <a:solidFill>
              <a:srgbClr val="C0392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029200" y="2990088"/>
            <a:ext cx="365760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1">
                <a:solidFill>
                  <a:srgbClr val="C0392B"/>
                </a:solidFill>
                <a:latin typeface="Calibri"/>
              </a:rPr>
              <a:t>retrain on new data / new cohort (domain shift)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5760" y="3429000"/>
            <a:ext cx="365760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07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5760" y="3465576"/>
            <a:ext cx="64008" cy="2578608"/>
          </a:xfrm>
          <a:prstGeom prst="rect">
            <a:avLst/>
          </a:prstGeom>
          <a:solidFill>
            <a:srgbClr val="E07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" y="3456432"/>
            <a:ext cx="351129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Validation gates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" y="3685032"/>
            <a:ext cx="3511296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F6B"/>
                </a:solidFill>
                <a:latin typeface="Calibri"/>
              </a:rPr>
              <a:t>• Held-out test: last 20% per subject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F6B"/>
                </a:solidFill>
                <a:latin typeface="Calibri"/>
              </a:rPr>
              <a:t>• Paired t-test vs next-best (p &lt; 0.05)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F6B"/>
                </a:solidFill>
                <a:latin typeface="Calibri"/>
              </a:rPr>
              <a:t>• 5-fold cross-individual CV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F6B"/>
                </a:solidFill>
                <a:latin typeface="Calibri"/>
              </a:rPr>
              <a:t>   (ShanghaiDM: 14.7 / 23.5 mg/dL RMSE)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F6B"/>
                </a:solidFill>
                <a:latin typeface="Calibri"/>
              </a:rPr>
              <a:t>• Ablation: covariate encoder, LSTM decoder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F6B"/>
                </a:solidFill>
                <a:latin typeface="Calibri"/>
              </a:rPr>
              <a:t>• Baselines: LR, SVR, XGBoost, LSTM,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F6B"/>
                </a:solidFill>
                <a:latin typeface="Calibri"/>
              </a:rPr>
              <a:t>   N-BEATS, N-HiTS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51960" y="3429000"/>
            <a:ext cx="365760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51960" y="3465576"/>
            <a:ext cx="64008" cy="25786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61688" y="3456432"/>
            <a:ext cx="351129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Run-time safeguards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61688" y="3685032"/>
            <a:ext cx="3511296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F6B"/>
                </a:solidFill>
                <a:latin typeface="Calibri"/>
              </a:rPr>
              <a:t>• Missing CGM: impute gaps &lt; 60 min;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F6B"/>
                </a:solidFill>
                <a:latin typeface="Calibri"/>
              </a:rPr>
              <a:t>  longer → suspend prediction + alert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F6B"/>
                </a:solidFill>
                <a:latin typeface="Calibri"/>
              </a:rPr>
              <a:t>• No-reading watchdog → data_gap alert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F6B"/>
                </a:solidFill>
                <a:latin typeface="Calibri"/>
              </a:rPr>
              <a:t>• Quantile-based alarm sensitivity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F6B"/>
                </a:solidFill>
                <a:latin typeface="Calibri"/>
              </a:rPr>
              <a:t>• Prediction &amp; event log for review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F6B"/>
                </a:solidFill>
                <a:latin typeface="Calibri"/>
              </a:rPr>
              <a:t>• Model version pinned per prediction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38160" y="3429000"/>
            <a:ext cx="3657600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38160" y="3465576"/>
            <a:ext cx="64008" cy="2578608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47888" y="3456432"/>
            <a:ext cx="3511296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Artifacts &amp; versioning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47888" y="3685032"/>
            <a:ext cx="3511296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F6B"/>
                </a:solidFill>
                <a:latin typeface="Calibri"/>
              </a:rPr>
              <a:t>• Dataset snapshot + preprocessing config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F6B"/>
                </a:solidFill>
                <a:latin typeface="Calibri"/>
              </a:rPr>
              <a:t>• Trained checkpoint + hyperparameters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F6B"/>
                </a:solidFill>
                <a:latin typeface="Calibri"/>
              </a:rPr>
              <a:t>• Normalization μ/σ, quantile set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F6B"/>
                </a:solidFill>
                <a:latin typeface="Calibri"/>
              </a:rPr>
              <a:t>• Precomputed static context per patient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F6B"/>
                </a:solidFill>
                <a:latin typeface="Calibri"/>
              </a:rPr>
              <a:t>• Evaluation report per release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5F6B"/>
                </a:solidFill>
                <a:latin typeface="Calibri"/>
              </a:rPr>
              <a:t>• Model card (scope, cohorts, limits)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00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008"/>
            <a:ext cx="91440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FC7EF"/>
                </a:solidFill>
                <a:latin typeface="Calibri"/>
              </a:rPr>
              <a:t>QUALITY ATTRIBUTES  ·  ARCHITECTURE DECISION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2608"/>
            <a:ext cx="109728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7 · Non-Functional Requirements &amp; Key Design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37960"/>
            <a:ext cx="7315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GlucoRAG · EPS-TFT Reference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4572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555F6B"/>
                </a:solidFill>
                <a:latin typeface="Calibr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1463040" cy="585216"/>
          </a:xfrm>
          <a:prstGeom prst="roundRect">
            <a:avLst>
              <a:gd name="adj" fmla="val 8000"/>
            </a:avLst>
          </a:prstGeom>
          <a:solidFill>
            <a:srgbClr val="E07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46304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Latency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19" y="1188720"/>
            <a:ext cx="32918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07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38528" y="1188720"/>
            <a:ext cx="320040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prediction ready well within one 5-min CGM period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883664"/>
            <a:ext cx="1463040" cy="585216"/>
          </a:xfrm>
          <a:prstGeom prst="roundRect">
            <a:avLst>
              <a:gd name="adj" fmla="val 8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883664"/>
            <a:ext cx="146304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19" y="1883664"/>
            <a:ext cx="32918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38528" y="1883664"/>
            <a:ext cx="320040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lowest RMSE/MAE/MAPE/gRMSE vs 6 baselines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578608"/>
            <a:ext cx="1463040" cy="585216"/>
          </a:xfrm>
          <a:prstGeom prst="roundRect">
            <a:avLst>
              <a:gd name="adj" fmla="val 8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578608"/>
            <a:ext cx="146304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Generalization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19" y="2578608"/>
            <a:ext cx="32918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38528" y="2578608"/>
            <a:ext cx="320040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one model for T1D + T2D cohort; cross-individual CV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273552"/>
            <a:ext cx="1463040" cy="585216"/>
          </a:xfrm>
          <a:prstGeom prst="roundRect">
            <a:avLst>
              <a:gd name="adj" fmla="val 8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273552"/>
            <a:ext cx="146304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Privacy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4519" y="3273552"/>
            <a:ext cx="32918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38528" y="3273552"/>
            <a:ext cx="320040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local inference; raw CGM not sent to a cloud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968496"/>
            <a:ext cx="1463040" cy="585216"/>
          </a:xfrm>
          <a:prstGeom prst="roundRect">
            <a:avLst>
              <a:gd name="adj" fmla="val 8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968496"/>
            <a:ext cx="146304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Availability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74519" y="3968496"/>
            <a:ext cx="32918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38528" y="3968496"/>
            <a:ext cx="320040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no internet dependency for predictions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663440"/>
            <a:ext cx="1463040" cy="585216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663440"/>
            <a:ext cx="146304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Interpretability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74519" y="4663440"/>
            <a:ext cx="32918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38528" y="4663440"/>
            <a:ext cx="320040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VSN feature weights + attention weights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5358384"/>
            <a:ext cx="1463040" cy="585216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358384"/>
            <a:ext cx="146304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Safety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74519" y="5358384"/>
            <a:ext cx="32918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38528" y="5358384"/>
            <a:ext cx="320040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0B223F"/>
                </a:solidFill>
                <a:latin typeface="Calibri"/>
              </a:rPr>
              <a:t>quantile bounds; gap guard; tunable alarms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40680" y="1188720"/>
            <a:ext cx="640080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B2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40680" y="1188720"/>
            <a:ext cx="64008" cy="731520"/>
          </a:xfrm>
          <a:prstGeom prst="rect">
            <a:avLst/>
          </a:prstGeom>
          <a:solidFill>
            <a:srgbClr val="00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77840" y="1207008"/>
            <a:ext cx="621792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D1  Population model, not per-patient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1463040"/>
            <a:ext cx="62179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F6B"/>
                </a:solidFill>
                <a:latin typeface="Calibri"/>
              </a:rPr>
              <a:t>One TFT for the whole cohort; static demographics personalise via covariate encoder. Removing it raises RMSE 21.7 → 22.4 mg/dL.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40680" y="2002536"/>
            <a:ext cx="640080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B2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40680" y="2002536"/>
            <a:ext cx="64008" cy="731520"/>
          </a:xfrm>
          <a:prstGeom prst="rect">
            <a:avLst/>
          </a:prstGeom>
          <a:solidFill>
            <a:srgbClr val="00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0" y="2020824"/>
            <a:ext cx="621792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D2  Direct multi-horizon output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2276856"/>
            <a:ext cx="62179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F6B"/>
                </a:solidFill>
                <a:latin typeface="Calibri"/>
              </a:rPr>
              <a:t>All 12 steps in one pass: no recursive error accumulation; one model serves 30 &amp; 60 min.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40680" y="2816352"/>
            <a:ext cx="640080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B2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40680" y="2816352"/>
            <a:ext cx="64008" cy="731520"/>
          </a:xfrm>
          <a:prstGeom prst="rect">
            <a:avLst/>
          </a:prstGeom>
          <a:solidFill>
            <a:srgbClr val="00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77840" y="2834640"/>
            <a:ext cx="621792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D3  Minimal inputs: CGM + 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3090672"/>
            <a:ext cx="62179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F6B"/>
                </a:solidFill>
                <a:latin typeface="Calibri"/>
              </a:rPr>
              <a:t>VSN shows 93.9% importance; no manual meal/insulin logging, less compute.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40680" y="3630168"/>
            <a:ext cx="640080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B2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40680" y="3630168"/>
            <a:ext cx="64008" cy="731520"/>
          </a:xfrm>
          <a:prstGeom prst="rect">
            <a:avLst/>
          </a:prstGeom>
          <a:solidFill>
            <a:srgbClr val="00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3648456"/>
            <a:ext cx="621792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D4  Precompute static context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77840" y="3904487"/>
            <a:ext cx="62179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F6B"/>
                </a:solidFill>
                <a:latin typeface="Calibri"/>
              </a:rPr>
              <a:t>Covariate encoder runs once per patient; inference reuses stored context vectors.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40680" y="4443984"/>
            <a:ext cx="640080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B2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40680" y="4443984"/>
            <a:ext cx="64008" cy="731520"/>
          </a:xfrm>
          <a:prstGeom prst="rect">
            <a:avLst/>
          </a:prstGeom>
          <a:solidFill>
            <a:srgbClr val="00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77840" y="4462272"/>
            <a:ext cx="621792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D5  Quantile (probabilistic) output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77840" y="4718304"/>
            <a:ext cx="62179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F6B"/>
                </a:solidFill>
                <a:latin typeface="Calibri"/>
              </a:rPr>
              <a:t>7 quantiles give an uncertainty band; alarm sensitivity is a config choice, not a retrain.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40680" y="5257800"/>
            <a:ext cx="640080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B2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40680" y="5257800"/>
            <a:ext cx="64008" cy="731520"/>
          </a:xfrm>
          <a:prstGeom prst="rect">
            <a:avLst/>
          </a:prstGeom>
          <a:solidFill>
            <a:srgbClr val="009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77840" y="5276088"/>
            <a:ext cx="621792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223F"/>
                </a:solidFill>
                <a:latin typeface="Calibri"/>
              </a:rPr>
              <a:t>D6  Training and inference share one model package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77840" y="5532120"/>
            <a:ext cx="62179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55F6B"/>
                </a:solidFill>
                <a:latin typeface="Calibri"/>
              </a:rPr>
              <a:t>Same TFT code in both paths avoids train/serve skew; versioned artifacts make results reproducible.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