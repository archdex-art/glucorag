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9F1E"/>
                </a:solidFill>
                <a:latin typeface="Helvetica Neue"/>
              </a:rPr>
              <a:t>IEEE TRANSACTIONS ON BIOMEDICAL CIRCUITS AND SYSTEMS · VOL. 18, NO. 2 · APRIL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Population-Specific Glucose Prediction in Diabetes Care With Transformer-Based Deep Learning on the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566160"/>
            <a:ext cx="1463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22191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3D6E5"/>
                </a:solidFill>
                <a:latin typeface="Helvetica Neue"/>
              </a:rPr>
              <a:t>EPS-TFT — a population-specific temporal fusion Transformer for multi-horizon blood-glucose forecasting (software scope)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FB6C9"/>
                </a:solidFill>
                <a:latin typeface="Helvetica Neue"/>
              </a:rPr>
              <a:t>Taiyu Zhu · Lei Kuang · Chengzhe Piao · Junming Zeng · Kezhi Li · Pantelis Georgiou
Imperial College London · University College London · University of Oxford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349240"/>
            <a:ext cx="1965960" cy="91440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349240"/>
            <a:ext cx="1965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124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0702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A8BED0"/>
                </a:solidFill>
                <a:latin typeface="Helvetica Neue"/>
              </a:rPr>
              <a:t>T1D / T2D participants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8376" y="5349240"/>
            <a:ext cx="1965960" cy="91440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08376" y="5349240"/>
            <a:ext cx="1965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55321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590702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A8BED0"/>
                </a:solidFill>
                <a:latin typeface="Helvetica Neue"/>
              </a:rPr>
              <a:t>clinical CGM datasets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8072" y="5349240"/>
            <a:ext cx="1965960" cy="91440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48072" y="5349240"/>
            <a:ext cx="1965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55321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30 &amp;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590702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A8BED0"/>
                </a:solidFill>
                <a:latin typeface="Helvetica Neue"/>
              </a:rPr>
              <a:t>min horizons, one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7768" y="5349240"/>
            <a:ext cx="1965960" cy="91440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7768" y="5349240"/>
            <a:ext cx="1965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55321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590702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A8BED0"/>
                </a:solidFill>
                <a:latin typeface="Helvetica Neue"/>
              </a:rPr>
              <a:t>quantile outputs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27464" y="5349240"/>
            <a:ext cx="1965960" cy="91440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7464" y="5349240"/>
            <a:ext cx="1965960" cy="381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7464" y="55321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5907024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A8BED0"/>
                </a:solidFill>
                <a:latin typeface="Helvetica Neue"/>
              </a:rPr>
              <a:t>baselines outperformed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From clinical need to a validated forecasting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556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7B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647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4"/>
                </a:solidFill>
                <a:latin typeface="Helvetica Neue"/>
              </a:rPr>
              <a:t>Clinical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B"/>
                </a:solidFill>
                <a:latin typeface="Helvetica Neue"/>
              </a:rPr>
              <a:t>Diabetes burden, CGM lag, why prediction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76856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048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7B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140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4"/>
                </a:solidFill>
                <a:latin typeface="Helvetica Neue"/>
              </a:rPr>
              <a:t>Research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3230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B"/>
                </a:solidFill>
                <a:latin typeface="Helvetica Neue"/>
              </a:rPr>
              <a:t>Patient-specific models, single horizon, little T2D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26080"/>
            <a:ext cx="10881360" cy="5669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05409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7B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4"/>
                </a:solidFill>
                <a:latin typeface="Helvetica Neue"/>
              </a:rPr>
              <a:t>Method: EPS-TFT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815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B"/>
                </a:solidFill>
                <a:latin typeface="Helvetica Neue"/>
              </a:rPr>
              <a:t>Temporal fusion Transformer with gating + quantile forecasts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575304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7033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7B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4"/>
                </a:solidFill>
                <a:latin typeface="Helvetica Neue"/>
              </a:rPr>
              <a:t>Experiments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73075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B"/>
                </a:solidFill>
                <a:latin typeface="Helvetica Neue"/>
              </a:rPr>
              <a:t>OhioT1DM &amp; ShanghaiDM, 7 methods, 4 metrics, 2 horizons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224528"/>
            <a:ext cx="10881360" cy="5669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35254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7B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3616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4"/>
                </a:solidFill>
                <a:latin typeface="Helvetica Neue"/>
              </a:rPr>
              <a:t>Results &amp;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7997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B"/>
                </a:solidFill>
                <a:latin typeface="Helvetica Neue"/>
              </a:rPr>
              <a:t>Accuracy, trajectories, ablation, in-silico trial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873752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0017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7B"/>
                </a:solidFill>
                <a:latin typeface="Helvetica Neue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109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4"/>
                </a:solidFill>
                <a:latin typeface="Helvetica Neue"/>
              </a:rPr>
              <a:t>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0292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B"/>
                </a:solidFill>
                <a:latin typeface="Helvetica Neue"/>
              </a:rPr>
              <a:t>Limitations, generalization, deployment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82296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9F1E"/>
                </a:solidFill>
                <a:latin typeface="Helvetica Neue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Clinical Problem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FC4D6"/>
                </a:solidFill>
                <a:latin typeface="Helvetica Neue"/>
              </a:rPr>
              <a:t>Why real-time blood-glucose forecasting is load-bearing in diabetes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Diabetes: scale of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IDF Diabetes Atlas + CGM physiology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2606040" cy="1600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26060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37944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Helvetica Neue"/>
              </a:rPr>
              <a:t>&gt; 500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441448"/>
            <a:ext cx="2350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people living with diabetes worldwide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600200"/>
            <a:ext cx="2606040" cy="1600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600200"/>
            <a:ext cx="2606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37944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Helvetica Neue"/>
              </a:rPr>
              <a:t>~10 %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441448"/>
            <a:ext cx="2350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of cases are Type 1 (autoimmune β-cell loss)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600200"/>
            <a:ext cx="2606040" cy="1600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600200"/>
            <a:ext cx="26060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837944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Helvetica Neue"/>
              </a:rPr>
              <a:t>&gt; 90 %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441448"/>
            <a:ext cx="2350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of cases are Type 2 (secretion + resistance)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600200"/>
            <a:ext cx="2606040" cy="1600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8" y="1600200"/>
            <a:ext cx="2606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837944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Helvetica Neue"/>
              </a:rPr>
              <a:t>~30 %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441448"/>
            <a:ext cx="23500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of time spent outside euglycemic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520440"/>
            <a:ext cx="1097280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600" b="0">
                <a:solidFill>
                  <a:srgbClr val="1B2530"/>
                </a:solidFill>
                <a:latin typeface="Helvetica Neue"/>
              </a:rPr>
              <a:t>▪  CGM measures interstitial fluid glucose, not blood — the conversion introduces an intrinsic lag between reading and true BG.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600" b="0">
                <a:solidFill>
                  <a:srgbClr val="1B2530"/>
                </a:solidFill>
                <a:latin typeface="Helvetica Neue"/>
              </a:rPr>
              <a:t>▪  Hypo-/hyperglycemia detected only after the fact leaves no window for proactive action.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400" b="0">
                <a:solidFill>
                  <a:srgbClr val="5B6B7B"/>
                </a:solidFill>
                <a:latin typeface="Helvetica Neue"/>
              </a:rPr>
              <a:t>        –  Prediction converts a monitoring device into a decision-support device.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600" b="0">
                <a:solidFill>
                  <a:srgbClr val="1B2530"/>
                </a:solidFill>
                <a:latin typeface="Helvetica Neue"/>
              </a:rPr>
              <a:t>▪  Unmanaged excursions drive cardiovascular disease, nephropathy, retinopathy and diabetic ketoacidosis.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600" b="0">
                <a:solidFill>
                  <a:srgbClr val="1B2530"/>
                </a:solidFill>
                <a:latin typeface="Helvetica Neue"/>
              </a:rPr>
              <a:t>▪  CGM produces high-resolution time series — ideal substrate for deep sequence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Research gaps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What the literature misses, and what this paper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49240" cy="44805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49240" cy="5080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B7B"/>
                </a:solidFill>
                <a:latin typeface="Helvetica Neue"/>
              </a:rPr>
              <a:t>GAPS IN PRIOR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9377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Patient-specific models: one network per subject — does not scale to a cohort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Single prediction horizon: separate models for 30 and 60 min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T2D (&gt;90 % of cases) is largely unexplored in BG prediction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Most models need manual inputs (meals, insulin) that are inconsistent across a population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Little use of static demographics to personalise a shared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572768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572768"/>
            <a:ext cx="53492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7B"/>
                </a:solidFill>
                <a:latin typeface="Helvetica Neue"/>
              </a:rPr>
              <a:t>THIS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49377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One population-specific TFT serving a whole cohort, conditioned on demographics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Multi-horizon direct forecast: 30 and 60 min from a single forward pass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Validated on both T1D (24 subjects) and T2D (100 subjects)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Feature selection via VSN weights: CGM + timestamp alone suffice (93.9 % importance)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Quantile loss → prediction intervals for tunable hypo/hyper alarms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In-silico decision-support trial with the UVA/Padova simulator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82296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9F1E"/>
                </a:solidFill>
                <a:latin typeface="Helvetica Neue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Method: EPS-TFT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FC4D6"/>
                </a:solidFill>
                <a:latin typeface="Helvetica Neue"/>
              </a:rPr>
              <a:t>Problem formulation, gated Transformer architecture, quantile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Multi-horizon forecasting with heterogeneous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0881360" cy="100584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Given timestep t and target BG series y, forecast  y(t : t+τ)  for horizon τ ∈ {30, 60}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971800"/>
            <a:ext cx="26060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Helvetica Neue"/>
              </a:rPr>
              <a:t>Observed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B"/>
                </a:solidFill>
                <a:latin typeface="Helvetica Neue"/>
              </a:rPr>
              <a:t>Past CGM readings
(24 samples = 120 min look-back)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2971800"/>
            <a:ext cx="2606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200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Helvetica Neue"/>
              </a:rPr>
              <a:t>Known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611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B"/>
                </a:solidFill>
                <a:latin typeface="Helvetica Neue"/>
              </a:rPr>
              <a:t>Timestamps, known for past
and future (12 steps ahead)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2971800"/>
            <a:ext cx="2606040" cy="5080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Helvetica Neue"/>
              </a:rPr>
              <a:t>Static covariates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B"/>
                </a:solidFill>
                <a:latin typeface="Helvetica Neue"/>
              </a:rPr>
              <a:t>Gender, age, BMI,
diabetes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3688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33688" y="2971800"/>
            <a:ext cx="26060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200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Helvetica Neue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611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B7B"/>
                </a:solidFill>
                <a:latin typeface="Helvetica Neue"/>
              </a:rPr>
              <a:t>12-step BG trajectory
× 7 quantiles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754880"/>
            <a:ext cx="1097280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500" b="0">
                <a:solidFill>
                  <a:srgbClr val="1B2530"/>
                </a:solidFill>
                <a:latin typeface="Helvetica Neue"/>
              </a:rPr>
              <a:t>▪  Direct (non-recursive) multi-horizon output: all future values in one forward step — faster and no error accumulation.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500" b="0">
                <a:solidFill>
                  <a:srgbClr val="1B2530"/>
                </a:solidFill>
                <a:latin typeface="Helvetica Neue"/>
              </a:rPr>
              <a:t>▪  A single set of weights serves the whole population; personalization comes from the static covariate path, not retraining.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500" b="0">
                <a:solidFill>
                  <a:srgbClr val="1B2530"/>
                </a:solidFill>
                <a:latin typeface="Helvetica Neue"/>
              </a:rPr>
              <a:t>▪  Feature set deliberately reduced to CGM + timestamp → no manual user input, enabling fully automatic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Software pipeline — cohort CGM streams → TFT inference → predictive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1627632" cy="173736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40280"/>
            <a:ext cx="1627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CGM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4813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</a:rPr>
              <a:t>5 / 15-min readings
per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69748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09F1E"/>
                </a:solidFill>
                <a:latin typeface="Helvetica Neue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016" y="2103120"/>
            <a:ext cx="1627632" cy="173736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" y="2240280"/>
            <a:ext cx="1627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43200"/>
            <a:ext cx="14813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</a:rPr>
              <a:t>causal imputation
clip 40–400 · 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69748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09F1E"/>
                </a:solidFill>
                <a:latin typeface="Helvetica Neue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1104" y="2103120"/>
            <a:ext cx="1627632" cy="173736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2240280"/>
            <a:ext cx="1627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Feature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743200"/>
            <a:ext cx="14813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</a:rPr>
              <a:t>24 past steps +
12 known future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269748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09F1E"/>
                </a:solidFill>
                <a:latin typeface="Helvetica Neue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103120"/>
            <a:ext cx="1627632" cy="17373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2240280"/>
            <a:ext cx="1627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EPS-TFT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743200"/>
            <a:ext cx="14813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</a:rPr>
              <a:t>VSN · GRN · LSTM ·
attention · quantile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269748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09F1E"/>
                </a:solidFill>
                <a:latin typeface="Helvetica Neue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103120"/>
            <a:ext cx="1627632" cy="173736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240280"/>
            <a:ext cx="1627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Risk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2743200"/>
            <a:ext cx="14813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</a:rPr>
              <a:t>hypo / hyper flags
from quantile bounds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269748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09F1E"/>
                </a:solidFill>
                <a:latin typeface="Helvetica Neue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2368" y="2103120"/>
            <a:ext cx="1627632" cy="173736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2368" y="2240280"/>
            <a:ext cx="1627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Decision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743200"/>
            <a:ext cx="14813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Helvetica Neue"/>
              </a:rPr>
              <a:t>alerts · forecast view
PLGM insulin rule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1104" y="4160520"/>
            <a:ext cx="3474720" cy="9144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61104" y="4160520"/>
            <a:ext cx="50800" cy="9144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2245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Static demographics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55371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age · gender · BMI · diabetes type → covariate encoder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8404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E7C7B"/>
                </a:solidFill>
                <a:latin typeface="Helvetica Neue"/>
              </a:rPr>
              <a:t>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394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B2530"/>
                </a:solidFill>
                <a:latin typeface="Helvetica Neue"/>
              </a:rPr>
              <a:t>One population model serves the whole cohort; demographics personalise predictions, and quantile outputs drive tunable alarms.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Temporal fusion Transformer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Fig. 2 — gated, multi-modal encoder–decoder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9</a:t>
            </a:r>
          </a:p>
        </p:txBody>
      </p:sp>
      <p:pic>
        <p:nvPicPr>
          <p:cNvPr id="8" name="Picture 7" descr="fig2_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5120640" cy="42136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0" y="1627632"/>
            <a:ext cx="5532120" cy="8229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627632"/>
            <a:ext cx="50800" cy="822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7190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VSN — Variable Selection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20116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GRN + Softmax weights per feature per timestep; also used post-hoc for feature importance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496312"/>
            <a:ext cx="5532120" cy="8229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2496312"/>
            <a:ext cx="50800" cy="822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58775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Covariate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8803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Turns static demographics into context vectors for VSN, LSTM initial states and static enrichment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364992"/>
            <a:ext cx="5532120" cy="8229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364992"/>
            <a:ext cx="50800" cy="822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45643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LSTM encoder / 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7490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Encoder: observed + past known features. Decoder: future known inputs, initialized by encoder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233672"/>
            <a:ext cx="5532120" cy="8229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4233672"/>
            <a:ext cx="50800" cy="822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32511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Multi-head self-attention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6177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Long-range temporal dependencies + interpretability by head aggregation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5102352"/>
            <a:ext cx="5532120" cy="8229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5102352"/>
            <a:ext cx="50800" cy="822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519379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GLU + residual paths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54864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Allow the model to skip LSTM, MHSA or the whole Transformer block when a simpler mapping suffices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Gating mechanisms and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The machinery that makes multi-modal fusion and interval forecasts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0800" cy="109728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Gated linear unit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E7C7B"/>
                </a:solidFill>
                <a:latin typeface="Menlo"/>
              </a:rPr>
              <a:t>GLU(z) = σ(W_g·z + b_g) ⊙ (W_l·z + b_l)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Sigmoid gate modulates how much non-linear contribution passes.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761488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61488"/>
            <a:ext cx="50800" cy="109728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7121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Gated residual network (2–3)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2112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E7C7B"/>
                </a:solidFill>
                <a:latin typeface="Menlo"/>
              </a:rPr>
              <a:t>GRN(p,e) = LN(p + GLU(W_g·a + b_g)),   a = ELU(W_p·p + W_e·e + b_a)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Residual + layer norm; ELU damps outliers and CGM noise.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50208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50208"/>
            <a:ext cx="50800" cy="109728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993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Multi-head self-attention (4–6)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2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E7C7B"/>
                </a:solidFill>
                <a:latin typeface="Menlo"/>
              </a:rPr>
              <a:t>MHSA = [ (1/N) Σ H_i ] W_O ,   A = Softmax(Q K^T / √D_k)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1830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Q, K, V come from the GRN static-enrichment layer: static and temporal features fused.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138928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138928"/>
            <a:ext cx="50800" cy="109728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4865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Quantile loss (7)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59552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E7C7B"/>
                </a:solidFill>
                <a:latin typeface="Menlo"/>
              </a:rPr>
              <a:t>L = (1/τ) Σ_i Σ_q (1−q)(ŷ_i − y_i)⁺ + q(y_i − ŷ_i)⁺,   q ∈ {0.02, 0.1, 0.25, 0.5, 0.75, 0.9, 0.98}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0702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B"/>
                </a:solidFill>
                <a:latin typeface="Helvetica Neue"/>
              </a:rPr>
              <a:t>Lower/upper bounds make alarm sensitivity a tunable knob — a feature patients requested in earlier focus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82296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9F1E"/>
                </a:solidFill>
                <a:latin typeface="Helvetica Neue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FC4D6"/>
                </a:solidFill>
                <a:latin typeface="Helvetica Neue"/>
              </a:rPr>
              <a:t>Datasets, preprocessing, baselines and clinical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Clinical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Two public CGM cohorts — 124 participants in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00200"/>
          <a:ext cx="1088135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9893"/>
                <a:gridCol w="3894381"/>
                <a:gridCol w="4467084"/>
              </a:tblGrid>
              <a:tr h="329184"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OhioT1DM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ShanghaiDM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Participants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12 T1D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12 T1D + 100 T2D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CGM device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Medtronic Enlite (real-time)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Abbott FreeStyle Libre (flash)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Sampling interval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5 minutes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15 minutes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Trial duration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8 weeks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14 days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Auxiliary data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Pump insulin, self-reported meals &amp; exercise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Self-reported diet &amp; insulin, physical exam, questionnaire, labs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Split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Provided train (~6 wk) / test (~2 wk)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80 / 20 chronological per subject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Static features used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Gender, age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Gender, age, BMI, diabetes type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892040"/>
            <a:ext cx="1097280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500" b="0">
                <a:solidFill>
                  <a:srgbClr val="1B2530"/>
                </a:solidFill>
                <a:latin typeface="Helvetica Neue"/>
              </a:rPr>
              <a:t>▪  Final 25 % of every training set held out for validation; individual sets aggregated into population-level splits.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500" b="0">
                <a:solidFill>
                  <a:srgbClr val="1B2530"/>
                </a:solidFill>
                <a:latin typeface="Helvetica Neue"/>
              </a:rPr>
              <a:t>▪  Missing CGM (mainly OhioT1DM: calibration, artifacts) filled by causal linear extrapolation, clipped to the 40–400 mg/dL sensor range.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500" b="0">
                <a:solidFill>
                  <a:srgbClr val="1B2530"/>
                </a:solidFill>
                <a:latin typeface="Helvetica Neue"/>
              </a:rPr>
              <a:t>▪  Timestamps normalized over the 24 h cycle to [0, 1]; all other features standard-normalized.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Feature selection from variable selection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Fig. 4 — VSN weights act as post-hoc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13</a:t>
            </a:r>
          </a:p>
        </p:txBody>
      </p:sp>
      <p:pic>
        <p:nvPicPr>
          <p:cNvPr id="8" name="Picture 7" descr="fig4_f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035040" cy="32209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783080"/>
            <a:ext cx="466344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00" b="1">
                <a:solidFill>
                  <a:srgbClr val="1B2530"/>
                </a:solidFill>
                <a:latin typeface="Helvetica Neue"/>
              </a:rPr>
              <a:t>▪  CGM + timestamp account for 93.9 % of encoder VSN selection weight.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Insulin, meal and exercise contribute little at population level — inter-individual variability in daily behaviour makes these features inconsistent.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Model retrained with only CGM + timestamp; the same setup carried over to ShanghaiDM.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200" b="0">
                <a:solidFill>
                  <a:srgbClr val="5B6B7B"/>
                </a:solidFill>
                <a:latin typeface="Helvetica Neue"/>
              </a:rPr>
              <a:t>        –  No manual logging → closed-loop-ready, fewer human errors.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200" b="0">
                <a:solidFill>
                  <a:srgbClr val="5B6B7B"/>
                </a:solidFill>
                <a:latin typeface="Helvetica Neue"/>
              </a:rPr>
              <a:t>        –  Smaller input set → less computation per prediction.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Baselines, training and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Seven methods, four metrics, two horizons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5349240" cy="508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Helvetica Neue"/>
              </a:rPr>
              <a:t>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9377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Classical, single-horizon (two models each): SVR, XGBoost, Linear Regression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Deep, reconfigured as multi-horizon: LSTM, N-BEATS, N-HiTS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PyTorch 1.11 / Python 3.9, trained on an NVIDIA GTX 1080 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60020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600200"/>
            <a:ext cx="53492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7B"/>
                </a:solidFill>
                <a:latin typeface="Helvetica Neue"/>
              </a:rPr>
              <a:t>TRAINING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49377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120 min look-back window → 60 min forecast (12 steps)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Adam optimizer on quantile loss; 200 epochs, early stopping patience 20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Hyperparameters tuned per dataset with the HyperBand tuner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114800"/>
            <a:ext cx="2606040" cy="1737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114800"/>
            <a:ext cx="2606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159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A44"/>
                </a:solidFill>
                <a:latin typeface="Helvetica Neue"/>
              </a:rPr>
              <a:t>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Root mean square error — penalizes large deviations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4114800"/>
            <a:ext cx="2606040" cy="1737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55848" y="4114800"/>
            <a:ext cx="2606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43159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A44"/>
                </a:solidFill>
                <a:latin typeface="Helvetica Neue"/>
              </a:rPr>
              <a:t>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75488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Mean absolute error — average magnitude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4114800"/>
            <a:ext cx="2606040" cy="1737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4114800"/>
            <a:ext cx="2606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3159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A44"/>
                </a:solidFill>
                <a:latin typeface="Helvetica Neue"/>
              </a:rPr>
              <a:t>MAPE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5488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Relative error; comparable across BG scales in a diverse population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33688" y="4114800"/>
            <a:ext cx="2606040" cy="1737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33688" y="4114800"/>
            <a:ext cx="2606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43159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A44"/>
                </a:solidFill>
                <a:latin typeface="Helvetica Neue"/>
              </a:rPr>
              <a:t>gRMSE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75488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B7B"/>
                </a:solidFill>
                <a:latin typeface="Helvetica Neue"/>
              </a:rPr>
              <a:t>Glucose-specific RMSE (Clarke-error weighted) — penalizes clinically harmful mistakes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82296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9F1E"/>
                </a:solidFill>
                <a:latin typeface="Helvetica Neue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FC4D6"/>
                </a:solidFill>
                <a:latin typeface="Helvetica Neue"/>
              </a:rPr>
              <a:t>Accuracy, trajectories, ablation and in-silico 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Prediction accuracy — OhioT1DM (12 T1D)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Table I — mean ± STD; EPS-TFT best on every metric and horizon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7B"/>
                </a:solidFill>
                <a:latin typeface="Helvetica Neue"/>
              </a:rPr>
              <a:t>PH = 30 minutes  (mg/dL)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38528"/>
          <a:ext cx="534923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462"/>
                <a:gridCol w="1054779"/>
                <a:gridCol w="1054779"/>
                <a:gridCol w="979438"/>
                <a:gridCol w="105477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Method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MAPE (%)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gRMSE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EPS-TFT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19.1 ± 2.5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13.1 ± 1.6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8.5 ± 1.6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23.3 ± 3.1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N-BEATS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19.4 ± 2.3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13.4 ± 1.6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8.9 ± 1.6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23.8 ± 2.7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N-HiTS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19.6 ± 2.3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13.9 ± 1.6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9.5 ± 1.7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24.5 ± 2.8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LSTM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20.2 ± 2.6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14.3 ± 1.7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9.7 ± 1.7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24.6 ± 3.3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XGBoost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22.1 ± 2.9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15.7 ± 1.9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10.6 ± 2.0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28.2 ± 3.9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LR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22.2 ± 2.8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15.9 ± 2.0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10.9 ± 2.1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27.7 ± 3.7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SVR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23.5 ± 4.7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16.1 ± 2.3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10.6 ± 2.0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29.9 ± 6.7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44768" y="157276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9F1E"/>
                </a:solidFill>
                <a:latin typeface="Helvetica Neue"/>
              </a:rPr>
              <a:t>PH = 60 minutes  (mg/dL)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44768" y="1938528"/>
          <a:ext cx="534923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462"/>
                <a:gridCol w="1054779"/>
                <a:gridCol w="1054779"/>
                <a:gridCol w="979438"/>
                <a:gridCol w="105477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Method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MAPE (%)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gRMSE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EPS-TFT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32.3 ± 3.8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23.2 ± 2.8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15.5 ± 2.8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40.1 ± 4.9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N-HiTS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33.0 ± 3.7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24.5 ± 2.9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17.3 ± 3.1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42.5 ± 4.6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N-BEATS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33.8 ± 3.9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24.4 ± 3.0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16.3 ± 3.0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43.0 ± 4.9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LSTM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34.4 ± 4.2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25.4 ± 3.1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17.6 ± 3.3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42.7 ± 5.4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XGBoost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35.6 ± 4.7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26.4 ± 3.4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18.1 ± 3.7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46.6 ± 6.6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LR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36.0 ± 4.6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27.0 ± 3.7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18.7 ± 3.9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46.5 ± 6.6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SVR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37.0 ± 5.6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27.0 ± 3.9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18.0 ± 3.7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48.5 ± 8.0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029200"/>
            <a:ext cx="1097280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Multi-horizon deep models (EPS-TFT, N-BEATS, N-HiTS, LSTM) clearly beat single-horizon SVR / XGBoost / LR.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Gains over the next-best method are small at 30 min but statistically significant (paired t-test, p &lt; 0.05, normality by Shapiro-Wilk).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Prediction accuracy — ShanghaiDM (12 T1D + 100 T2D)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Table II — the first large-cohort T2D forecasting benchmark of its kind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7B"/>
                </a:solidFill>
                <a:latin typeface="Helvetica Neue"/>
              </a:rPr>
              <a:t>PH = 30 minutes  (mg/dL)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38528"/>
          <a:ext cx="53492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592"/>
                <a:gridCol w="1084305"/>
                <a:gridCol w="1012018"/>
                <a:gridCol w="1012018"/>
                <a:gridCol w="108430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Method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MAPE (%)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gRMSE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EPS-TFT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12.7 ± 3.8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8.8 ± 2.8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6.7 ± 2.3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14.8 ± 4.9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N-BEATS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12.9 ± 4.0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9.0 ± 3.0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6.9 ± 2.2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15.1 ± 5.2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LSTM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13.1 ± 3.7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9.2 ± 2.7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7.1 ± 2.2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15.4 ± 5.0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N-HiTS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13.4 ± 4.1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9.3 ± 3.1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7.1 ± 2.3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15.6 ± 5.3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XGBoost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17.2 ± 7.0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13.1 ± 6.2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11.5 ± 8.3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20.8 ± 9.3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LR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17.7 ± 14.3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12.4 ± 5.6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9.5 ± 4.5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20.3 ± 17.4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SVR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18.3 ± 9.4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13.8 ± 8.3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11.9 ± 10.3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22.2 ± 12.5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44768" y="157276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9F1E"/>
                </a:solidFill>
                <a:latin typeface="Helvetica Neue"/>
              </a:rPr>
              <a:t>PH = 60 minutes  (mg/dL)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44768" y="1938528"/>
          <a:ext cx="53492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592"/>
                <a:gridCol w="1084305"/>
                <a:gridCol w="1012018"/>
                <a:gridCol w="1012018"/>
                <a:gridCol w="108430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Method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MAPE (%)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gRMSE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EPS-TFT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21.7 ± 6.9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15.1 ± 5.1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11.2 ± 4.1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A5A59"/>
                          </a:solidFill>
                          <a:latin typeface="Helvetica Neue"/>
                        </a:rPr>
                        <a:t>26.2 ± 9.5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N-BEATS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22.1 ± 7.0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15.4 ± 5.2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11.6 ± 3.7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26.9 ± 9.6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N-HiTS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22.5 ± 7.0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15.7 ± 5.3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11.8 ± 3.9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27.2 ± 9.5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LSTM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22.5 ± 6.8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15.9 ± 5.0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12.0 ± 3.9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27.4 ± 9.4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SVR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26.3 ± 10.7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20.1 ± 9.6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16.9 ± 11.5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32.4 ± 14.4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XGBoost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27.1 ± 10.8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21.0 ± 9.9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18.0 ± 11.7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32.6 ± 13.6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LR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28.8 ± 16.4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21.0 ± 10.6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16.7 ± 7.6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B2530"/>
                          </a:solidFill>
                          <a:latin typeface="Helvetica Neue"/>
                        </a:rPr>
                        <a:t>34.1 ± 19.8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029200"/>
            <a:ext cx="1097280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A single population model covers both diabetes types; static covariates (incl. diabetes type, BMI) supply the personalization.</a:t>
            </a:r>
          </a:p>
          <a:p>
            <a:pPr>
              <a:lnSpc>
                <a:spcPct val="112000"/>
              </a:lnSpc>
              <a:spcAft>
                <a:spcPts val="432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Five-fold cross-individual validation on unseen ShanghaiDM cohorts: mean RMSE 14.7 mg/dL (30 min) and 23.5 mg/dL (60 min).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Qualitative behaviour across patient phenotypes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Fig. 5 — two-day traces, 60-min EPS-TFT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18</a:t>
            </a:r>
          </a:p>
        </p:txBody>
      </p:sp>
      <p:pic>
        <p:nvPicPr>
          <p:cNvPr id="8" name="Picture 7" descr="fig5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705" y="1554480"/>
            <a:ext cx="345027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1828800"/>
            <a:ext cx="512064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1296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(a) OhioT1DM T1D: both hypo- and hyperglycemia, high variability, missing CGM segments.</a:t>
            </a:r>
          </a:p>
          <a:p>
            <a:pPr>
              <a:lnSpc>
                <a:spcPct val="112000"/>
              </a:lnSpc>
              <a:spcAft>
                <a:spcPts val="1296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(b) ShanghaiDM T1D: hypoglycemia-dominated profile.</a:t>
            </a:r>
          </a:p>
          <a:p>
            <a:pPr>
              <a:lnSpc>
                <a:spcPct val="112000"/>
              </a:lnSpc>
              <a:spcAft>
                <a:spcPts val="1296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(c) ShanghaiDM T2D: hyperglycemia-dominated profile.</a:t>
            </a:r>
          </a:p>
          <a:p>
            <a:pPr>
              <a:lnSpc>
                <a:spcPct val="112000"/>
              </a:lnSpc>
              <a:spcAft>
                <a:spcPts val="1296"/>
              </a:spcAft>
            </a:pPr>
            <a:r>
              <a:rPr sz="1400" b="1">
                <a:solidFill>
                  <a:srgbClr val="1B2530"/>
                </a:solidFill>
                <a:latin typeface="Helvetica Neue"/>
              </a:rPr>
              <a:t>▪  Predictions track measured CGM closely across all three phenotypes — evidence of population-level generalization.</a:t>
            </a:r>
          </a:p>
          <a:p>
            <a:pPr>
              <a:lnSpc>
                <a:spcPct val="112000"/>
              </a:lnSpc>
              <a:spcAft>
                <a:spcPts val="1296"/>
              </a:spcAft>
            </a:pPr>
            <a:r>
              <a:rPr sz="1400" b="1">
                <a:solidFill>
                  <a:srgbClr val="1B2530"/>
                </a:solidFill>
                <a:latin typeface="Helvetica Neue"/>
              </a:rPr>
              <a:t>▪  Quantile bounds (25th / 75th percentile band) capture severe hypo- and hyperglycemia events that the point forecast alone misses.</a:t>
            </a:r>
          </a:p>
          <a:p>
            <a:pPr>
              <a:lnSpc>
                <a:spcPct val="112000"/>
              </a:lnSpc>
              <a:spcAft>
                <a:spcPts val="1296"/>
              </a:spcAft>
            </a:pPr>
            <a:r>
              <a:rPr sz="1400" b="0">
                <a:solidFill>
                  <a:srgbClr val="1B2530"/>
                </a:solidFill>
                <a:latin typeface="Helvetica Neue"/>
              </a:rPr>
              <a:t>▪  Alarm thresholds can be moved along the quantile range to trade sensitivity against false alarms.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Fig. 7 (Appendix A) — contribution of TFT submodules, ShanghaiDM, 60-min 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19</a:t>
            </a:r>
          </a:p>
        </p:txBody>
      </p:sp>
      <p:pic>
        <p:nvPicPr>
          <p:cNvPr id="8" name="Picture 7" descr="fig7a_ab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47" y="1600200"/>
            <a:ext cx="4450721" cy="3108960"/>
          </a:xfrm>
          <a:prstGeom prst="rect">
            <a:avLst/>
          </a:prstGeom>
        </p:spPr>
      </p:pic>
      <p:pic>
        <p:nvPicPr>
          <p:cNvPr id="9" name="Picture 8" descr="fig7b_a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86" y="4846320"/>
            <a:ext cx="2980044" cy="12801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09360" y="1645920"/>
            <a:ext cx="5120640" cy="1005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1206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73936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2A44"/>
                </a:solidFill>
                <a:latin typeface="Helvetica Neue"/>
              </a:rPr>
              <a:t>21.7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157984"/>
            <a:ext cx="4864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B7B"/>
                </a:solidFill>
                <a:latin typeface="Helvetica Neue"/>
              </a:rPr>
              <a:t>Full EPS-TFT — mean RMSE (mg/dL)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5120640" cy="1005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788920"/>
            <a:ext cx="5120640" cy="5080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916936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2A44"/>
                </a:solidFill>
                <a:latin typeface="Helvetica Neue"/>
              </a:rPr>
              <a:t>22.0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300984"/>
            <a:ext cx="4864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B7B"/>
                </a:solidFill>
                <a:latin typeface="Helvetica Neue"/>
              </a:rPr>
              <a:t>No LSTM decoder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120640" cy="1005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1206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059936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2A44"/>
                </a:solidFill>
                <a:latin typeface="Helvetica Neue"/>
              </a:rPr>
              <a:t>22.4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443984"/>
            <a:ext cx="4864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B7B"/>
                </a:solidFill>
                <a:latin typeface="Helvetica Neue"/>
              </a:rPr>
              <a:t>No covariate encoder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120640"/>
            <a:ext cx="512064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Removing the covariate encoder costs the most accuracy: static demographics are what make one population model work for a heterogeneous cohort.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Degradation concentrates exactly where it matters clinically — hypo- and hyperglycemic excursions (Fig. 7b).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In-silico decision-support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B"/>
                </a:solidFill>
                <a:latin typeface="Helvetica Neue"/>
              </a:rPr>
              <a:t>Appendix B — 3-month UVA/Padova T1D simulation, 10 virtual adults, PLGM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20</a:t>
            </a:r>
          </a:p>
        </p:txBody>
      </p:sp>
      <p:pic>
        <p:nvPicPr>
          <p:cNvPr id="8" name="Picture 7" descr="fig8_cv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394960" cy="37260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5399367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B6B7B"/>
                </a:solidFill>
                <a:latin typeface="Helvetica Neue"/>
              </a:rPr>
              <a:t>Fig. 8 — Control-variability grid analysis; each dot is one day's min/max BG.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B2530"/>
                </a:solidFill>
                <a:latin typeface="Helvetica Neue"/>
              </a:rPr>
              <a:t>Predictive low-glucose management: pump suspends basal insulin when the 60-min prediction ≤ 70 mg/dL.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377440"/>
          <a:ext cx="5212080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Outcome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Open loop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With EPS-TFT</a:t>
                      </a:r>
                    </a:p>
                  </a:txBody>
                  <a:tcPr marL="64008" marR="64008" marT="18288" marB="18288" anchor="ctr"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A5A59"/>
                          </a:solidFill>
                          <a:latin typeface="Helvetica Neue"/>
                        </a:rPr>
                        <a:t>Time below 70 mg/dL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A5A59"/>
                          </a:solidFill>
                          <a:latin typeface="Helvetica Neue"/>
                        </a:rPr>
                        <a:t>5.3 %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A5A59"/>
                          </a:solidFill>
                          <a:latin typeface="Helvetica Neue"/>
                        </a:rPr>
                        <a:t>1.9 %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Time in range 70–180 mg/dL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74.6 %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75.2 %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A5A59"/>
                          </a:solidFill>
                          <a:latin typeface="Helvetica Neue"/>
                        </a:rPr>
                        <a:t>CVGA A+B zone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A5A59"/>
                          </a:solidFill>
                          <a:latin typeface="Helvetica Neue"/>
                        </a:rPr>
                        <a:t>71 %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A5A59"/>
                          </a:solidFill>
                          <a:latin typeface="Helvetica Neue"/>
                        </a:rPr>
                        <a:t>80 %</a:t>
                      </a:r>
                    </a:p>
                  </a:txBody>
                  <a:tcPr marL="64008" marR="64008" marT="18288" marB="18288" anchor="ctr">
                    <a:solidFill>
                      <a:srgbClr val="DEEF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CVGA D+E zone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530"/>
                          </a:solidFill>
                          <a:latin typeface="Helvetica Neue"/>
                        </a:rPr>
                        <a:t>−9 %</a:t>
                      </a:r>
                    </a:p>
                  </a:txBody>
                  <a:tcPr marL="64008" marR="64008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4343400"/>
            <a:ext cx="521208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Hypoglycemia exposure cut by ~64 % relative — the clinically dominant benefit.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Simulator streamed CGM to the model, which returned 60-min predictions that drove the insulin-suspend rule.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>
                <a:solidFill>
                  <a:srgbClr val="1B2530"/>
                </a:solidFill>
                <a:latin typeface="Helvetica Neue"/>
              </a:rPr>
              <a:t>▪  Time-in-range improvement is modest; the mechanism targets lows, not overall glycemia.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82296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9F1E"/>
                </a:solidFill>
                <a:latin typeface="Helvetica Neue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Discussion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FC4D6"/>
                </a:solidFill>
                <a:latin typeface="Helvetica Neue"/>
              </a:rPr>
              <a:t>What it means, what it does not yet solve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Helvetica Neue"/>
              </a:rPr>
              <a:t>Discussion — strengths, caveats,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371600" cy="381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2764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B"/>
                </a:solidFill>
                <a:latin typeface="Helvetica Neue"/>
              </a:rPr>
              <a:t>Zhu et al., IEEE Trans. Biomedical Circuits and Systems, 18(2), 2024 — DOI 10.1109/TBCAS.2023.3348844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7C7B"/>
                </a:solidFill>
                <a:latin typeface="Helvetica Neue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3520440" cy="50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7B"/>
                </a:solidFill>
                <a:latin typeface="Helvetica Neue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320040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One model, one cohort, two horizons, two diabetes types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Only CGM + timestamp needed: no manual input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Prediction intervals give clinicians a tunable alarm policy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Hospital-scale use case: cohort monitoring on inpatient wards (post-COVID CGM uptake)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572768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9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5204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9F1E"/>
                </a:solidFill>
                <a:latin typeface="Helvetica Neue"/>
              </a:rPr>
              <a:t>CAVEATS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76272"/>
            <a:ext cx="320040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RMSE margin over N-BEATS is small at 30 min — significant (p &lt; 0.05) but modest; it matters mainly for precision dosing / artificial pancreas loops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Population-specific multi-horizon setting is not directly comparable with classic patient-specific results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Simple models (LR in a phone app) remain preferable when latency is irrelevant or data cannot leave the device for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572768"/>
            <a:ext cx="33832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572768"/>
            <a:ext cx="3383280" cy="5080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556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B7B"/>
                </a:solidFill>
                <a:latin typeface="Helvetica Neue"/>
              </a:rPr>
              <a:t>LIMITS &amp;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76272"/>
            <a:ext cx="3108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No cross-population transfer (5 vs 15 min CGM resolution, cohort variability) → meta-learning / domain generalization planned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Missing-data protocol: alerts + linear imputation &lt; 1 h, prediction suspended beyond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Next: integration with CGM systems and insulin-pump decision logic</a:t>
            </a:r>
          </a:p>
          <a:p>
            <a:pPr>
              <a:lnSpc>
                <a:spcPct val="112000"/>
              </a:lnSpc>
              <a:spcAft>
                <a:spcPts val="1152"/>
              </a:spcAft>
            </a:pPr>
            <a:r>
              <a:rPr sz="1300" b="0">
                <a:solidFill>
                  <a:srgbClr val="1B2530"/>
                </a:solidFill>
                <a:latin typeface="Helvetica Neue"/>
              </a:rPr>
              <a:t>▪  Real-world clinical trials, expert review, user studies still 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1371600"/>
            <a:ext cx="1463040" cy="508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5E3EE"/>
                </a:solidFill>
                <a:latin typeface="Helvetica Neue"/>
              </a:rPr>
              <a:t>EPS-TFT delivers population-specific, multi-horizon glucose forecasting for T1D and T2D from a single model conditioned on patient demographics.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834640"/>
            <a:ext cx="5074920" cy="118872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834640"/>
            <a:ext cx="50800" cy="1188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3467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A8BED0"/>
                </a:solidFill>
                <a:latin typeface="Helvetica Neue"/>
              </a:rPr>
              <a:t>Lowest RMSE, MAE, MAPE and gRMSE against six baselines on both datasets, at 30 and 60 min (p &lt; 0.05).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34640"/>
            <a:ext cx="5074920" cy="118872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834640"/>
            <a:ext cx="50800" cy="118872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98094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Simplicity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3467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A8BED0"/>
                </a:solidFill>
                <a:latin typeface="Helvetica Neue"/>
              </a:rPr>
              <a:t>One model, two horizons, two diabetes types; only CGM + timestamp as dynamic inputs.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206240"/>
            <a:ext cx="5074920" cy="118872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206240"/>
            <a:ext cx="50800" cy="1188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5254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Clinical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7183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A8BED0"/>
                </a:solidFill>
                <a:latin typeface="Helvetica Neue"/>
              </a:rPr>
              <a:t>Quantile bounds flag severe events; PLGM loop cut time below 70 mg/dL from 5.3 % to 1.9 % in silico.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074920" cy="1188720"/>
          </a:xfrm>
          <a:prstGeom prst="rect">
            <a:avLst/>
          </a:prstGeom>
          <a:solidFill>
            <a:srgbClr val="1C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50800" cy="118872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5254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183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A8BED0"/>
                </a:solidFill>
                <a:latin typeface="Helvetica Neue"/>
              </a:rPr>
              <a:t>A reusable framework for population-level, uncertainty-aware glucose forecasting.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CA4B8"/>
                </a:solidFill>
                <a:latin typeface="Helvetica Neue"/>
              </a:rPr>
              <a:t>T. Zhu, L. Kuang, C. Piao, J. Zeng, K. Li, P. Georgiou, "Population-Specific Glucose Prediction in Diabetes Care With Transformer-Based Deep Learning on the Edge," IEEE Trans. Biomed. Circuits Syst., vol. 18, no. 2, pp. 236–246, Apr.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